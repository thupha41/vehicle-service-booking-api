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9844f05e7da4ecf" /><Relationship Type="http://schemas.openxmlformats.org/officeDocument/2006/relationships/extended-properties" Target="/docProps/app.xml" Id="R9d022f14e78e40e0" /><Relationship Type="http://schemas.openxmlformats.org/officeDocument/2006/relationships/officeDocument" Target="/ppt/presentation.xml" Id="Rd92ee3913ac04fc9" /></Relationships>
</file>

<file path=ppt/presentation.xml><?xml version="1.0" encoding="utf-8"?>
<p:presentation xmlns:p="http://schemas.openxmlformats.org/presentationml/2006/main">
  <p:sldMasterIdLst>
    <p:sldMasterId xmlns:r="http://schemas.openxmlformats.org/officeDocument/2006/relationships" id="2147483648" r:id="R6126728fa33442d4"/>
  </p:sldMasterIdLst>
  <p:notesMasterIdLst>
    <p:notesMasterId xmlns:r="http://schemas.openxmlformats.org/officeDocument/2006/relationships" r:id="R7e6de80c3354476c"/>
  </p:notesMasterIdLst>
  <p:sldIdLst>
    <p:sldId xmlns:r="http://schemas.openxmlformats.org/officeDocument/2006/relationships" id="256" r:id="Rd45e3d49eef54928"/>
    <p:sldId xmlns:r="http://schemas.openxmlformats.org/officeDocument/2006/relationships" id="257" r:id="R07a683ae648840cf"/>
    <p:sldId xmlns:r="http://schemas.openxmlformats.org/officeDocument/2006/relationships" id="258" r:id="R751e7f44741946c2"/>
    <p:sldId xmlns:r="http://schemas.openxmlformats.org/officeDocument/2006/relationships" id="259" r:id="Rbc93aad3048947a7"/>
    <p:sldId xmlns:r="http://schemas.openxmlformats.org/officeDocument/2006/relationships" id="260" r:id="R884ccadedf9247c0"/>
    <p:sldId xmlns:r="http://schemas.openxmlformats.org/officeDocument/2006/relationships" id="261" r:id="Rff1b0ecdd28c457e"/>
    <p:sldId xmlns:r="http://schemas.openxmlformats.org/officeDocument/2006/relationships" id="262" r:id="R3ae7ed435e7f4efc"/>
    <p:sldId xmlns:r="http://schemas.openxmlformats.org/officeDocument/2006/relationships" id="263" r:id="R6a3b97dc636c4369"/>
    <p:sldId xmlns:r="http://schemas.openxmlformats.org/officeDocument/2006/relationships" id="264" r:id="Rb2a76a64fe7544f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cf138327964406b" /><Relationship Type="http://schemas.openxmlformats.org/officeDocument/2006/relationships/slideMaster" Target="/ppt/slideMasters/slideMaster1.xml" Id="R6126728fa33442d4" /><Relationship Type="http://schemas.openxmlformats.org/officeDocument/2006/relationships/notesMaster" Target="/ppt/notesMasters/notesMaster1.xml" Id="R7e6de80c3354476c" /><Relationship Type="http://schemas.openxmlformats.org/officeDocument/2006/relationships/presProps" Target="/ppt/presProps.xml" Id="R4a01c1ee8c5a4bd7" /><Relationship Type="http://schemas.openxmlformats.org/officeDocument/2006/relationships/tableStyles" Target="/ppt/tableStyles.xml" Id="R1ad991abbc9d470f" /><Relationship Type="http://schemas.openxmlformats.org/officeDocument/2006/relationships/slide" Target="/ppt/slides/slide1.xml" Id="Rd45e3d49eef54928" /><Relationship Type="http://schemas.openxmlformats.org/officeDocument/2006/relationships/slide" Target="/ppt/slides/slide2.xml" Id="R07a683ae648840cf" /><Relationship Type="http://schemas.openxmlformats.org/officeDocument/2006/relationships/slide" Target="/ppt/slides/slide3.xml" Id="R751e7f44741946c2" /><Relationship Type="http://schemas.openxmlformats.org/officeDocument/2006/relationships/slide" Target="/ppt/slides/slide4.xml" Id="Rbc93aad3048947a7" /><Relationship Type="http://schemas.openxmlformats.org/officeDocument/2006/relationships/slide" Target="/ppt/slides/slide5.xml" Id="R884ccadedf9247c0" /><Relationship Type="http://schemas.openxmlformats.org/officeDocument/2006/relationships/slide" Target="/ppt/slides/slide6.xml" Id="Rff1b0ecdd28c457e" /><Relationship Type="http://schemas.openxmlformats.org/officeDocument/2006/relationships/slide" Target="/ppt/slides/slide7.xml" Id="R3ae7ed435e7f4efc" /><Relationship Type="http://schemas.openxmlformats.org/officeDocument/2006/relationships/slide" Target="/ppt/slides/slide8.xml" Id="R6a3b97dc636c4369" /><Relationship Type="http://schemas.openxmlformats.org/officeDocument/2006/relationships/slide" Target="/ppt/slides/slide9.xml" Id="Rb2a76a64fe7544f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68ea7a834e44ab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1bbf1447494af6" /><Relationship Type="http://schemas.openxmlformats.org/officeDocument/2006/relationships/notesMaster" Target="/ppt/notesMasters/notesMaster1.xml" Id="Rb286253cc2564f1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8278aab054f45e9" /><Relationship Type="http://schemas.openxmlformats.org/officeDocument/2006/relationships/notesMaster" Target="/ppt/notesMasters/notesMaster1.xml" Id="R47c342e59fc040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29668cedb6de4d48" /><Relationship Type="http://schemas.openxmlformats.org/officeDocument/2006/relationships/notesMaster" Target="/ppt/notesMasters/notesMaster1.xml" Id="Rb5b1b7e91baa476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9d91771fac74d69" /><Relationship Type="http://schemas.openxmlformats.org/officeDocument/2006/relationships/notesMaster" Target="/ppt/notesMasters/notesMaster1.xml" Id="R251375c3303a4157" /></Relationships>
</file>

<file path=ppt/notesSlides/_rels/notesSlide5.xml.rels>&#65279;<?xml version="1.0" encoding="utf-8"?><Relationships xmlns="http://schemas.openxmlformats.org/package/2006/relationships"><Relationship Type="http://schemas.openxmlformats.org/officeDocument/2006/relationships/slide" Target="/ppt/slides/slide5.xml" Id="Rc0d94202913d472a" /><Relationship Type="http://schemas.openxmlformats.org/officeDocument/2006/relationships/notesMaster" Target="/ppt/notesMasters/notesMaster1.xml" Id="R5446d1a63e254677" /></Relationships>
</file>

<file path=ppt/notesSlides/_rels/notesSlide6.xml.rels>&#65279;<?xml version="1.0" encoding="utf-8"?><Relationships xmlns="http://schemas.openxmlformats.org/package/2006/relationships"><Relationship Type="http://schemas.openxmlformats.org/officeDocument/2006/relationships/slide" Target="/ppt/slides/slide6.xml" Id="Rfce2688799dc406a" /><Relationship Type="http://schemas.openxmlformats.org/officeDocument/2006/relationships/notesMaster" Target="/ppt/notesMasters/notesMaster1.xml" Id="Re7c0a5dd5caf48cd" /></Relationships>
</file>

<file path=ppt/notesSlides/_rels/notesSlide7.xml.rels>&#65279;<?xml version="1.0" encoding="utf-8"?><Relationships xmlns="http://schemas.openxmlformats.org/package/2006/relationships"><Relationship Type="http://schemas.openxmlformats.org/officeDocument/2006/relationships/slide" Target="/ppt/slides/slide7.xml" Id="R890f9aaf67d14fba" /><Relationship Type="http://schemas.openxmlformats.org/officeDocument/2006/relationships/notesMaster" Target="/ppt/notesMasters/notesMaster1.xml" Id="R1768adb134e643de" /></Relationships>
</file>

<file path=ppt/notesSlides/_rels/notesSlide8.xml.rels>&#65279;<?xml version="1.0" encoding="utf-8"?><Relationships xmlns="http://schemas.openxmlformats.org/package/2006/relationships"><Relationship Type="http://schemas.openxmlformats.org/officeDocument/2006/relationships/slide" Target="/ppt/slides/slide8.xml" Id="R2a657c157fcb4646" /><Relationship Type="http://schemas.openxmlformats.org/officeDocument/2006/relationships/notesMaster" Target="/ppt/notesMasters/notesMaster1.xml" Id="Re20267cf220949a2" /></Relationships>
</file>

<file path=ppt/notesSlides/_rels/notesSlide9.xml.rels>&#65279;<?xml version="1.0" encoding="utf-8"?><Relationships xmlns="http://schemas.openxmlformats.org/package/2006/relationships"><Relationship Type="http://schemas.openxmlformats.org/officeDocument/2006/relationships/slide" Target="/ppt/slides/slide9.xml" Id="Rf21ef6abb4f5470d" /><Relationship Type="http://schemas.openxmlformats.org/officeDocument/2006/relationships/notesMaster" Target="/ppt/notesMasters/notesMaster1.xml" Id="R24f96732b13546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0:00–0:35]</a:t>
            </a:r>
          </a:p>
          <a:p xmlns:a="http://schemas.openxmlformats.org/drawingml/2006/main">
            <a:r>
              <a:t/>
            </a:r>
          </a:p>
          <a:p xmlns:a="http://schemas.openxmlformats.org/drawingml/2006/main">
            <a:r>
              <a:t>Hello, and thank you for reviewing my solution. I selected Scenario A, the Unified Service Scheduler. My implementation focuses on the backend because the hardest part of this problem is not the form; it is making a correct booking when technicians and service bays are shared resources. I will show the architecture, the concurrency strategy, how I directed AI with repository-local skills, and how the solution is verified with real PostgreSQL tests.</a:t>
            </a:r>
          </a:p>
          <a:p xmlns:a="http://schemas.openxmlformats.org/drawingml/2006/main">
            <a:r>
              <a:t/>
            </a:r>
          </a:p>
          <a:p xmlns:a="http://schemas.openxmlformats.org/drawingml/2006/main">
            <a:r>
              <a:t>[Sources]</a:t>
            </a:r>
          </a:p>
          <a:p xmlns:a="http://schemas.openxmlformats.org/drawingml/2006/main">
            <a:r>
              <a:t>- KeyloopCodingChallange.pdf — Scenario A and submission requirements</a:t>
            </a:r>
          </a:p>
          <a:p xmlns:a="http://schemas.openxmlformats.org/drawingml/2006/main">
            <a:r>
              <a:t>- README.md — implemented scope and operational commands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0:35–1:25]</a:t>
            </a:r>
          </a:p>
          <a:p xmlns:a="http://schemas.openxmlformats.org/drawingml/2006/main">
            <a:r>
              <a:t/>
            </a:r>
          </a:p>
          <a:p xmlns:a="http://schemas.openxmlformats.org/drawingml/2006/main">
            <a:r>
              <a:t>The user starts with a vehicle, service type, dealership, and desired time. The service must answer a more difficult question: is there a technician with every required skill, and is there the correct bay type, for the whole duration? If the answer is yes, the system must allocate both resources together. Finally, it must stay correct when two requests arrive at the same time or when a client retries after a timeout. The important user promise is that a confirmed appointment cannot later be discovered to be double-booked.</a:t>
            </a:r>
          </a:p>
          <a:p xmlns:a="http://schemas.openxmlformats.org/drawingml/2006/main">
            <a:r>
              <a:t/>
            </a:r>
          </a:p>
          <a:p xmlns:a="http://schemas.openxmlformats.org/drawingml/2006/main">
            <a:r>
              <a:t>[Sources]</a:t>
            </a:r>
          </a:p>
          <a:p xmlns:a="http://schemas.openxmlformats.org/drawingml/2006/main">
            <a:r>
              <a:t>- KeyloopCodingChallange.pdf — Scenario A core requirements</a:t>
            </a:r>
          </a:p>
          <a:p xmlns:a="http://schemas.openxmlformats.org/drawingml/2006/main">
            <a:r>
              <a:t>- src/modules/appointments/appointments.controller.ts — availability and appointment endpoints</a:t>
            </a:r>
          </a:p>
          <a:p xmlns:a="http://schemas.openxmlformats.org/drawingml/2006/main">
            <a:r>
              <a:t>- src/modules/resources/repositories/resource-allocation.repository.ts — resource qualification rules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1:25–2:15]</a:t>
            </a:r>
          </a:p>
          <a:p xmlns:a="http://schemas.openxmlformats.org/drawingml/2006/main">
            <a:r>
              <a:t/>
            </a:r>
          </a:p>
          <a:p xmlns:a="http://schemas.openxmlformats.org/drawingml/2006/main">
            <a:r>
              <a:t>I chose a stateless NestJS modular monolith with PostgreSQL as the single consistency boundary. Inside the process, modules still have clear ownership: Appointments orchestrates the use case, while Reference Data, Vehicles, and Resources expose narrow repository ports. This gives me simple local development and one database transaction, but it does not prevent horizontal API scaling. PostgreSQL is intentionally more than storage here. Its transactions, range types, locks, and constraints enforce the booking invariant for every API instance and every code path.</a:t>
            </a:r>
          </a:p>
          <a:p xmlns:a="http://schemas.openxmlformats.org/drawingml/2006/main">
            <a:r>
              <a:t/>
            </a:r>
          </a:p>
          <a:p xmlns:a="http://schemas.openxmlformats.org/drawingml/2006/main">
            <a:r>
              <a:t>[Sources]</a:t>
            </a:r>
          </a:p>
          <a:p xmlns:a="http://schemas.openxmlformats.org/drawingml/2006/main">
            <a:r>
              <a:t>- src/app.module.ts — NestJS module composition</a:t>
            </a:r>
          </a:p>
          <a:p xmlns:a="http://schemas.openxmlformats.org/drawingml/2006/main">
            <a:r>
              <a:t>- src/modules/appointments/appointments.module.ts — module dependencies</a:t>
            </a:r>
          </a:p>
          <a:p xmlns:a="http://schemas.openxmlformats.org/drawingml/2006/main">
            <a:r>
              <a:t>- docs/adr/0001-modular-monolith.md — architecture decision</a:t>
            </a:r>
          </a:p>
          <a:p xmlns:a="http://schemas.openxmlformats.org/drawingml/2006/main">
            <a:r>
              <a:t>- docs/SYSTEM_DESIGN.md — current and target architecture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2:15–3:25]</a:t>
            </a:r>
          </a:p>
          <a:p xmlns:a="http://schemas.openxmlformats.org/drawingml/2006/main">
            <a:r>
              <a:t/>
            </a:r>
          </a:p>
          <a:p xmlns:a="http://schemas.openxmlformats.org/drawingml/2006/main">
            <a:r>
              <a:t>The availability endpoint is only a snapshot, so booking must re-check everything. The transaction starts at READ COMMITTED. First, an advisory transaction lock serializes only retries that share the same idempotency key. A request hash separates a safe replay from reusing the key with a different payload. Next, the allocator locks a qualified technician and then a compatible bay in a deterministic order with SKIP LOCKED. The overlap query improves selection, but the final authority is two PostgreSQL exclusion constraints. A constraint race becomes a stable 409 SLOT_CONFLICT. The client receives 201 only after commit.</a:t>
            </a:r>
          </a:p>
          <a:p xmlns:a="http://schemas.openxmlformats.org/drawingml/2006/main">
            <a:r>
              <a:t/>
            </a:r>
          </a:p>
          <a:p xmlns:a="http://schemas.openxmlformats.org/drawingml/2006/main">
            <a:r>
              <a:t>[Sources]</a:t>
            </a:r>
          </a:p>
          <a:p xmlns:a="http://schemas.openxmlformats.org/drawingml/2006/main">
            <a:r>
              <a:t>- src/modules/appointments/application/appointments.service.ts — booking transaction and idempotency</a:t>
            </a:r>
          </a:p>
          <a:p xmlns:a="http://schemas.openxmlformats.org/drawingml/2006/main">
            <a:r>
              <a:t>- src/modules/resources/repositories/resource-allocation.repository.ts — qualification and row locking</a:t>
            </a:r>
          </a:p>
          <a:p xmlns:a="http://schemas.openxmlformats.org/drawingml/2006/main">
            <a:r>
              <a:t>- src/shared/database/migrations/1724803200000-initial-schema.ts — range column and exclusion constraints</a:t>
            </a:r>
          </a:p>
          <a:p xmlns:a="http://schemas.openxmlformats.org/drawingml/2006/main">
            <a:r>
              <a:t>- docs/adr/0002-database-locking-over-message-queue.md</a:t>
            </a:r>
          </a:p>
          <a:p xmlns:a="http://schemas.openxmlformats.org/drawingml/2006/main">
            <a:r>
              <a:t>- docs/adr/0003-tstzrange-exclusion-constraints.md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3:25–4:20]</a:t>
            </a:r>
          </a:p>
          <a:p xmlns:a="http://schemas.openxmlformats.org/drawingml/2006/main">
            <a:r>
              <a:t/>
            </a:r>
          </a:p>
          <a:p xmlns:a="http://schemas.openxmlformats.org/drawingml/2006/main">
            <a:r>
              <a:t>I compared the selected approach with four alternatives. An application-only check is simple but has a classic time-of-check to time-of-use race. Redis locks add another consistency system and difficult lock-versus-database failure ordering. A queue can absorb bursts, but it complicates synchronous confirmation and still does not replace the database invariant. Microservices and sagas are valid when teams or scaling boundaries require them, but they add network and partial-failure complexity around one atomic decision. For the stated low-to-medium contention, PostgreSQL gives the strongest guarantee with the smallest operating model.</a:t>
            </a:r>
          </a:p>
          <a:p xmlns:a="http://schemas.openxmlformats.org/drawingml/2006/main">
            <a:r>
              <a:t/>
            </a:r>
          </a:p>
          <a:p xmlns:a="http://schemas.openxmlformats.org/drawingml/2006/main">
            <a:r>
              <a:t>[Sources]</a:t>
            </a:r>
          </a:p>
          <a:p xmlns:a="http://schemas.openxmlformats.org/drawingml/2006/main">
            <a:r>
              <a:t>- docs/BRIEF_SYSTEM_DESIGN.md — alternatives comparison</a:t>
            </a:r>
          </a:p>
          <a:p xmlns:a="http://schemas.openxmlformats.org/drawingml/2006/main">
            <a:r>
              <a:t>- docs/adr/0001-modular-monolith.md</a:t>
            </a:r>
          </a:p>
          <a:p xmlns:a="http://schemas.openxmlformats.org/drawingml/2006/main">
            <a:r>
              <a:t>- docs/adr/0002-database-locking-over-message-queue.md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4:20–5:30]</a:t>
            </a:r>
          </a:p>
          <a:p xmlns:a="http://schemas.openxmlformats.org/drawingml/2006/main">
            <a:r>
              <a:t/>
            </a:r>
          </a:p>
          <a:p xmlns:a="http://schemas.openxmlformats.org/drawingml/2006/main">
            <a:r>
              <a:t>I did not use AI as an unbounded code generator. I placed reusable skills in the repository so the workflow travelled with the project. The planning skill forced explicit assumptions, rejected alternatives, risks, and verification criteria. The implementation skills required concrete ownership and real PostgreSQL for concurrency behavior. The test skill required root-cause fixes and a structured report. Code review separated standards from specification compliance, while security and PR skills defined additional release gates. Documentation and Git skills made the final handoff traceable and safe. The core skills used for this assessment were planning, implementation, testing, review, and documentation; the other skills define the next release boundary.</a:t>
            </a:r>
          </a:p>
          <a:p xmlns:a="http://schemas.openxmlformats.org/drawingml/2006/main">
            <a:r>
              <a:t/>
            </a:r>
          </a:p>
          <a:p xmlns:a="http://schemas.openxmlformats.org/drawingml/2006/main">
            <a:r>
              <a:t>[Sources]</a:t>
            </a:r>
          </a:p>
          <a:p xmlns:a="http://schemas.openxmlformats.org/drawingml/2006/main">
            <a:r>
              <a:t>- .claude/skills/README.md — assessment-focused skill catalog</a:t>
            </a:r>
          </a:p>
          <a:p xmlns:a="http://schemas.openxmlformats.org/drawingml/2006/main">
            <a:r>
              <a:t>- .claude/rules/primary-workflow.md — understand, implement, verify, review</a:t>
            </a:r>
          </a:p>
          <a:p xmlns:a="http://schemas.openxmlformats.org/drawingml/2006/main">
            <a:r>
              <a:t>- .claude/skills/mk-plan/SKILL.md</a:t>
            </a:r>
          </a:p>
          <a:p xmlns:a="http://schemas.openxmlformats.org/drawingml/2006/main">
            <a:r>
              <a:t>- .claude/skills/implement/SKILL.md</a:t>
            </a:r>
          </a:p>
          <a:p xmlns:a="http://schemas.openxmlformats.org/drawingml/2006/main">
            <a:r>
              <a:t>- .claude/skills/test/SKILL.md</a:t>
            </a:r>
          </a:p>
          <a:p xmlns:a="http://schemas.openxmlformats.org/drawingml/2006/main">
            <a:r>
              <a:t>- .claude/skills/code-review/SKILL.md</a:t>
            </a:r>
          </a:p>
          <a:p xmlns:a="http://schemas.openxmlformats.org/drawingml/2006/main">
            <a:r>
              <a:t>- .claude/skills/mk-security/SKILL.md</a:t>
            </a:r>
          </a:p>
          <a:p xmlns:a="http://schemas.openxmlformats.org/drawingml/2006/main">
            <a:r>
              <a:t>- .claude/skills/docs/SKILL.md</a:t>
            </a:r>
          </a:p>
          <a:p xmlns:a="http://schemas.openxmlformats.org/drawingml/2006/main">
            <a:r>
              <a:t>- .claude/skills/git/SKILL.md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5:30–6:35]</a:t>
            </a:r>
          </a:p>
          <a:p xmlns:a="http://schemas.openxmlformats.org/drawingml/2006/main">
            <a:r>
              <a:t/>
            </a:r>
          </a:p>
          <a:p xmlns:a="http://schemas.openxmlformats.org/drawingml/2006/main">
            <a:r>
              <a:t>The best evidence of AI ownership is where verification changed the implementation. First, an end-to-end PostgreSQL test found that the original raw handling of UPDATE RETURNING did not have the expected row shape, so cancellation became UPDATE followed by SELECT in the same transaction. Second, the Docker Compose smoke path showed that coupling production mode to database TLS broke the local stack, so DATABASE_SSL became explicit. Finally, the two-axis review identified module ownership, OpenAPI, test-database safety, and telemetry gaps. I accepted the review only after the code and tests were updated—not because the AI sounded confident.</a:t>
            </a:r>
          </a:p>
          <a:p xmlns:a="http://schemas.openxmlformats.org/drawingml/2006/main">
            <a:r>
              <a:t/>
            </a:r>
          </a:p>
          <a:p xmlns:a="http://schemas.openxmlformats.org/drawingml/2006/main">
            <a:r>
              <a:t>[Sources]</a:t>
            </a:r>
          </a:p>
          <a:p xmlns:a="http://schemas.openxmlformats.org/drawingml/2006/main">
            <a:r>
              <a:t>- docs/AI_COLLABORATION_LOG.md — recorded collaboration and verification changes</a:t>
            </a:r>
          </a:p>
          <a:p xmlns:a="http://schemas.openxmlformats.org/drawingml/2006/main">
            <a:r>
              <a:t>- src/modules/appointments/application/appointments.service.ts — cancellation implementation</a:t>
            </a:r>
          </a:p>
          <a:p xmlns:a="http://schemas.openxmlformats.org/drawingml/2006/main">
            <a:r>
              <a:t>- src/shared/config/database-options.ts — explicit database SSL</a:t>
            </a:r>
          </a:p>
          <a:p xmlns:a="http://schemas.openxmlformats.org/drawingml/2006/main">
            <a:r>
              <a:t>- test/helpers/postgres-test-database.ts — destructive-test guard</a:t>
            </a:r>
          </a:p>
          <a:p xmlns:a="http://schemas.openxmlformats.org/drawingml/2006/main">
            <a:r>
              <a:t>- src/shared/observability/metrics.service.ts — booking metrics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6:35–7:45]</a:t>
            </a:r>
          </a:p>
          <a:p xmlns:a="http://schemas.openxmlformats.org/drawingml/2006/main">
            <a:r>
              <a:t/>
            </a:r>
          </a:p>
          <a:p xmlns:a="http://schemas.openxmlformats.org/drawingml/2006/main">
            <a:r>
              <a:t>To reproduce the tests, install with the locked pnpm version and start the PostgreSQL container. Set NODE_ENV to test and point TEST_DATABASE_URL at scheduler_test. The test helper refuses destructive work unless both conditions are true. Unit tests cover business hours and canonical request hashing. Integration tests exercise the PostgreSQL constraints directly. End-to-end tests cover availability, booking, replay, cancellation, errors, and OpenAPI. Concurrency tests run resource-capacity matrices, a twenty-request burst, same-key coalescing, and cross-dealership independence. I finish with lint, typecheck, and build. SQLite or mocks would not prove GiST, range, advisory-lock, or row-lock behavior.</a:t>
            </a:r>
          </a:p>
          <a:p xmlns:a="http://schemas.openxmlformats.org/drawingml/2006/main">
            <a:r>
              <a:t/>
            </a:r>
          </a:p>
          <a:p xmlns:a="http://schemas.openxmlformats.org/drawingml/2006/main">
            <a:r>
              <a:t>[Sources]</a:t>
            </a:r>
          </a:p>
          <a:p xmlns:a="http://schemas.openxmlformats.org/drawingml/2006/main">
            <a:r>
              <a:t>- README.md — prerequisites and verification commands</a:t>
            </a:r>
          </a:p>
          <a:p xmlns:a="http://schemas.openxmlformats.org/drawingml/2006/main">
            <a:r>
              <a:t>- package.json — test and build scripts</a:t>
            </a:r>
          </a:p>
          <a:p xmlns:a="http://schemas.openxmlformats.org/drawingml/2006/main">
            <a:r>
              <a:t>- test/helpers/postgres-test-database.ts — migrations, seed and destructive-test guard</a:t>
            </a:r>
          </a:p>
          <a:p xmlns:a="http://schemas.openxmlformats.org/drawingml/2006/main">
            <a:r>
              <a:t>- test/concurrency/booking.concurrency.spec.ts — capacity matrices and burst tests</a:t>
            </a:r>
          </a:p>
          <a:p xmlns:a="http://schemas.openxmlformats.org/drawingml/2006/main">
            <a:r>
              <a:t>- .github/workflows/ci.yml — CI verification sequence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7:45–8:20]</a:t>
            </a:r>
          </a:p>
          <a:p xmlns:a="http://schemas.openxmlformats.org/drawingml/2006/main">
            <a:r>
              <a:t/>
            </a:r>
          </a:p>
          <a:p xmlns:a="http://schemas.openxmlformats.org/drawingml/2006/main">
            <a:r>
              <a:t>My conclusion is simple: correctness comes first, and distributed complexity should be introduced only when measurements justify it. The database prevents overlapping active appointments, while the API remains stateless and horizontally scalable. AI helped me move faster by exploring alternatives, implementing bounded work, and reviewing the result, but tests and repository rules determined what was accepted. In the live demonstration, I would check availability, book once, replay the same idempotency key, cancel the appointment, and then prove that the released slot can be booked again. I am happy to discuss the trade-offs or any implementation detail.</a:t>
            </a:r>
          </a:p>
          <a:p xmlns:a="http://schemas.openxmlformats.org/drawingml/2006/main">
            <a:r>
              <a:t/>
            </a:r>
          </a:p>
          <a:p xmlns:a="http://schemas.openxmlformats.org/drawingml/2006/main">
            <a:r>
              <a:t>[Sources]</a:t>
            </a:r>
          </a:p>
          <a:p xmlns:a="http://schemas.openxmlformats.org/drawingml/2006/main">
            <a:r>
              <a:t>- README.md — cURL walkthrough and implemented behavior</a:t>
            </a:r>
          </a:p>
          <a:p xmlns:a="http://schemas.openxmlformats.org/drawingml/2006/main">
            <a:r>
              <a:t>- openapi/openapi.json — API contract</a:t>
            </a:r>
          </a:p>
          <a:p xmlns:a="http://schemas.openxmlformats.org/drawingml/2006/main">
            <a:r>
              <a:t>- docs/BRIEF_SYSTEM_DESIGN.md — decision summary and evolution triggers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5dec2cdf1d3404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a9d6a6e09574ad5" /><Relationship Type="http://schemas.openxmlformats.org/officeDocument/2006/relationships/slideLayout" Target="/ppt/slideLayouts/slideLayout1.xml" Id="Rddd6eea0396d47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dd6eea0396d47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84f4009f44a42bd" /><Relationship Type="http://schemas.openxmlformats.org/officeDocument/2006/relationships/notesSlide" Target="/ppt/notesSlides/notesSlide1.xml" Id="Re29ccf0e907a44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58a5e835b104fab" /><Relationship Type="http://schemas.openxmlformats.org/officeDocument/2006/relationships/notesSlide" Target="/ppt/notesSlides/notesSlide2.xml" Id="R48c85661f8c6480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2d7c8c29c1340f8" /><Relationship Type="http://schemas.openxmlformats.org/officeDocument/2006/relationships/notesSlide" Target="/ppt/notesSlides/notesSlide3.xml" Id="R5133647409c7419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45028b704284687" /><Relationship Type="http://schemas.openxmlformats.org/officeDocument/2006/relationships/notesSlide" Target="/ppt/notesSlides/notesSlide4.xml" Id="Rebc349db841e4d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acabdd062614ea0" /><Relationship Type="http://schemas.openxmlformats.org/officeDocument/2006/relationships/notesSlide" Target="/ppt/notesSlides/notesSlide5.xml" Id="R07b377e1a1a443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029dfeb30714ab0" /><Relationship Type="http://schemas.openxmlformats.org/officeDocument/2006/relationships/notesSlide" Target="/ppt/notesSlides/notesSlide6.xml" Id="Rbc41ca1aa4c6415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56b0845e63c4cda" /><Relationship Type="http://schemas.openxmlformats.org/officeDocument/2006/relationships/notesSlide" Target="/ppt/notesSlides/notesSlide7.xml" Id="R4ac7d2288bcf4c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20b0a14ddec4e04" /><Relationship Type="http://schemas.openxmlformats.org/officeDocument/2006/relationships/notesSlide" Target="/ppt/notesSlides/notesSlide8.xml" Id="R127574c251e84f4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564128738974e4c" /><Relationship Type="http://schemas.openxmlformats.org/officeDocument/2006/relationships/notesSlide" Target="/ppt/notesSlides/notesSlide9.xml" Id="R425788d70d9b46e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AE5BB37-F9F0-434C-B1CB-08D8E1872EA1}"/>
              </a:ext>
            </a:extLst>
          </p:cNvPr>
          <p:cNvSpPr>
            <a:spLocks xmlns:a="http://schemas.openxmlformats.org/drawingml/2006/main" noGrp="1"/>
          </p:cNvSpPr>
          <p:nvPr/>
        </p:nvSpPr>
        <p:spPr>
          <a:xfrm xmlns:a="http://schemas.openxmlformats.org/drawingml/2006/main">
            <a:off x="609600" y="49530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3D8DFF"/>
                </a:solidFill>
              </a:defRPr>
            </a:pPr>
            <a:r>
              <a:rPr sz="1350" b="1">
                <a:solidFill>
                  <a:srgbClr val="3D8DFF"/>
                </a:solidFill>
              </a:rPr>
              <a:t>KEYLOOP TECHNICAL ASSESSMENT · SCENARIO A</a:t>
            </a:r>
          </a:p>
        </p:txBody>
      </p:sp>
      <p:sp>
        <p:nvSpPr>
          <p:cNvPr id="2" name="">
            <a:extLst xmlns:a="http://schemas.openxmlformats.org/drawingml/2006/main">
              <a:ext uri="{FF2B5EF4-FFF2-40B4-BE49-F238E27FC236}">
                <a16:creationId xmlns:a16="http://schemas.microsoft.com/office/drawing/2014/main" id="{BC037077-DBEE-4BDA-8E91-ECE65B580A97}"/>
              </a:ext>
            </a:extLst>
          </p:cNvPr>
          <p:cNvSpPr>
            <a:spLocks xmlns:a="http://schemas.openxmlformats.org/drawingml/2006/main" noGrp="1"/>
          </p:cNvSpPr>
          <p:nvPr/>
        </p:nvSpPr>
        <p:spPr>
          <a:xfrm xmlns:a="http://schemas.openxmlformats.org/drawingml/2006/main">
            <a:off x="609600" y="1809750"/>
            <a:ext cx="8763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5550" b="1">
                <a:solidFill>
                  <a:srgbClr val="000000"/>
                </a:solidFill>
              </a:defRPr>
            </a:pPr>
            <a:r>
              <a:rPr sz="5550" b="1">
                <a:solidFill>
                  <a:srgbClr val="000000"/>
                </a:solidFill>
              </a:rPr>
              <a:t>Unified Service</a:t>
            </a:r>
          </a:p>
          <a:p xmlns:a="http://schemas.openxmlformats.org/drawingml/2006/main">
            <a:pPr algn="l">
              <a:defRPr sz="5550" b="1">
                <a:solidFill>
                  <a:srgbClr val="000000"/>
                </a:solidFill>
              </a:defRPr>
            </a:pPr>
            <a:r>
              <a:rPr sz="5550" b="1">
                <a:solidFill>
                  <a:srgbClr val="000000"/>
                </a:solidFill>
              </a:rPr>
              <a:t>Scheduler</a:t>
            </a:r>
          </a:p>
        </p:txBody>
      </p:sp>
      <p:sp>
        <p:nvSpPr>
          <p:cNvPr id="3" name="">
            <a:extLst xmlns:a="http://schemas.openxmlformats.org/drawingml/2006/main">
              <a:ext uri="{FF2B5EF4-FFF2-40B4-BE49-F238E27FC236}">
                <a16:creationId xmlns:a16="http://schemas.microsoft.com/office/drawing/2014/main" id="{40DEFCB9-2356-466E-9542-EB68CC9D7FD8}"/>
              </a:ext>
            </a:extLst>
          </p:cNvPr>
          <p:cNvSpPr>
            <a:spLocks xmlns:a="http://schemas.openxmlformats.org/drawingml/2006/main" noGrp="1"/>
          </p:cNvSpPr>
          <p:nvPr/>
        </p:nvSpPr>
        <p:spPr>
          <a:xfrm xmlns:a="http://schemas.openxmlformats.org/drawingml/2006/main">
            <a:off x="628650" y="4210050"/>
            <a:ext cx="781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0">
                <a:solidFill>
                  <a:srgbClr val="5E6470"/>
                </a:solidFill>
              </a:defRPr>
            </a:pPr>
            <a:r>
              <a:rPr sz="2100" b="0">
                <a:solidFill>
                  <a:srgbClr val="5E6470"/>
                </a:solidFill>
              </a:rPr>
              <a:t>Correct booking under shared-resource constraints</a:t>
            </a:r>
          </a:p>
        </p:txBody>
      </p:sp>
      <p:sp>
        <p:nvSpPr>
          <p:cNvPr id="4" name="">
            <a:extLst xmlns:a="http://schemas.openxmlformats.org/drawingml/2006/main">
              <a:ext uri="{FF2B5EF4-FFF2-40B4-BE49-F238E27FC236}">
                <a16:creationId xmlns:a16="http://schemas.microsoft.com/office/drawing/2014/main" id="{920DA0E5-759E-4D7E-8A0C-B2A8225BA6AB}"/>
              </a:ext>
            </a:extLst>
          </p:cNvPr>
          <p:cNvSpPr>
            <a:spLocks xmlns:a="http://schemas.openxmlformats.org/drawingml/2006/main" noGrp="1"/>
          </p:cNvSpPr>
          <p:nvPr/>
        </p:nvSpPr>
        <p:spPr>
          <a:xfrm xmlns:a="http://schemas.openxmlformats.org/drawingml/2006/main">
            <a:off x="609600" y="5334000"/>
            <a:ext cx="504825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6010FD9-7EC9-47E4-A4C7-F3A599E35130}"/>
              </a:ext>
            </a:extLst>
          </p:cNvPr>
          <p:cNvSpPr>
            <a:spLocks xmlns:a="http://schemas.openxmlformats.org/drawingml/2006/main" noGrp="1"/>
          </p:cNvSpPr>
          <p:nvPr/>
        </p:nvSpPr>
        <p:spPr>
          <a:xfrm xmlns:a="http://schemas.openxmlformats.org/drawingml/2006/main">
            <a:off x="609600" y="5619750"/>
            <a:ext cx="666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000000"/>
                </a:solidFill>
              </a:defRPr>
            </a:pPr>
            <a:r>
              <a:rPr sz="1500" b="0">
                <a:solidFill>
                  <a:srgbClr val="000000"/>
                </a:solidFill>
              </a:rPr>
              <a:t>Solution · AI collaboration · Verification</a:t>
            </a:r>
          </a:p>
        </p:txBody>
      </p:sp>
    </p:spTree>
    <p:extLst>
      <p:ext uri="{BB962C8B-B14F-4D97-AF65-F5344CB8AC3E}">
        <p14:creationId xmlns:p14="http://schemas.microsoft.com/office/powerpoint/2010/main" val="17153430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C23A14A-768E-41B4-89DD-F31A0AB093B8}"/>
              </a:ext>
            </a:extLst>
          </p:cNvPr>
          <p:cNvSpPr>
            <a:spLocks xmlns:a="http://schemas.openxmlformats.org/drawingml/2006/main" noGrp="1"/>
          </p:cNvSpPr>
          <p:nvPr/>
        </p:nvSpPr>
        <p:spPr>
          <a:xfrm xmlns:a="http://schemas.openxmlformats.org/drawingml/2006/main">
            <a:off x="609600" y="2857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UNIFIED SERVICE SCHEDULER</a:t>
            </a:r>
          </a:p>
        </p:txBody>
      </p:sp>
      <p:sp>
        <p:nvSpPr>
          <p:cNvPr id="2" name="">
            <a:extLst xmlns:a="http://schemas.openxmlformats.org/drawingml/2006/main">
              <a:ext uri="{FF2B5EF4-FFF2-40B4-BE49-F238E27FC236}">
                <a16:creationId xmlns:a16="http://schemas.microsoft.com/office/drawing/2014/main" id="{52A13A67-4311-4F30-9213-DE8130695A13}"/>
              </a:ext>
            </a:extLst>
          </p:cNvPr>
          <p:cNvSpPr>
            <a:spLocks xmlns:a="http://schemas.openxmlformats.org/drawingml/2006/main" noGrp="1"/>
          </p:cNvSpPr>
          <p:nvPr/>
        </p:nvSpPr>
        <p:spPr>
          <a:xfrm xmlns:a="http://schemas.openxmlformats.org/drawingml/2006/main">
            <a:off x="609600" y="533400"/>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000000"/>
                </a:solidFill>
              </a:defRPr>
            </a:pPr>
            <a:r>
              <a:rPr sz="3000" b="1">
                <a:solidFill>
                  <a:srgbClr val="000000"/>
                </a:solidFill>
              </a:rPr>
              <a:t>A booking is valid only when both resources are free</a:t>
            </a:r>
          </a:p>
        </p:txBody>
      </p:sp>
      <p:sp>
        <p:nvSpPr>
          <p:cNvPr id="3" name="">
            <a:extLst xmlns:a="http://schemas.openxmlformats.org/drawingml/2006/main">
              <a:ext uri="{FF2B5EF4-FFF2-40B4-BE49-F238E27FC236}">
                <a16:creationId xmlns:a16="http://schemas.microsoft.com/office/drawing/2014/main" id="{DD7F1EE8-9A4E-4595-BA4B-9B39CC67CE80}"/>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D32FF531-BC40-419C-9EF2-D4B647B28A92}"/>
              </a:ext>
            </a:extLst>
          </p:cNvPr>
          <p:cNvSpPr>
            <a:spLocks xmlns:a="http://schemas.openxmlformats.org/drawingml/2006/main" noGrp="1"/>
          </p:cNvSpPr>
          <p:nvPr/>
        </p:nvSpPr>
        <p:spPr>
          <a:xfrm xmlns:a="http://schemas.openxmlformats.org/drawingml/2006/main">
            <a:off x="11144250" y="64198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470"/>
                </a:solidFill>
              </a:defRPr>
            </a:pPr>
            <a:r>
              <a:rPr sz="975" b="0">
                <a:solidFill>
                  <a:srgbClr val="5E6470"/>
                </a:solidFill>
              </a:rPr>
              <a:t>02</a:t>
            </a:r>
          </a:p>
        </p:txBody>
      </p:sp>
      <p:sp>
        <p:nvSpPr>
          <p:cNvPr id="5" name="">
            <a:extLst xmlns:a="http://schemas.openxmlformats.org/drawingml/2006/main">
              <a:ext uri="{FF2B5EF4-FFF2-40B4-BE49-F238E27FC236}">
                <a16:creationId xmlns:a16="http://schemas.microsoft.com/office/drawing/2014/main" id="{B0F8A976-12B4-43FC-9021-C30046B34A52}"/>
              </a:ext>
            </a:extLst>
          </p:cNvPr>
          <p:cNvSpPr>
            <a:spLocks xmlns:a="http://schemas.openxmlformats.org/drawingml/2006/main" noGrp="1"/>
          </p:cNvSpPr>
          <p:nvPr/>
        </p:nvSpPr>
        <p:spPr>
          <a:xfrm xmlns:a="http://schemas.openxmlformats.org/drawingml/2006/main">
            <a:off x="609600" y="1771650"/>
            <a:ext cx="3143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800" b="1">
                <a:solidFill>
                  <a:srgbClr val="000000"/>
                </a:solidFill>
              </a:defRPr>
            </a:pPr>
            <a:r>
              <a:rPr sz="4800" b="1">
                <a:solidFill>
                  <a:srgbClr val="000000"/>
                </a:solidFill>
              </a:rPr>
              <a:t>01</a:t>
            </a:r>
          </a:p>
        </p:txBody>
      </p:sp>
      <p:sp>
        <p:nvSpPr>
          <p:cNvPr id="6" name="">
            <a:extLst xmlns:a="http://schemas.openxmlformats.org/drawingml/2006/main">
              <a:ext uri="{FF2B5EF4-FFF2-40B4-BE49-F238E27FC236}">
                <a16:creationId xmlns:a16="http://schemas.microsoft.com/office/drawing/2014/main" id="{47FDE901-4DC0-4775-8B56-317DAAEC051A}"/>
              </a:ext>
            </a:extLst>
          </p:cNvPr>
          <p:cNvSpPr>
            <a:spLocks xmlns:a="http://schemas.openxmlformats.org/drawingml/2006/main" noGrp="1"/>
          </p:cNvSpPr>
          <p:nvPr/>
        </p:nvSpPr>
        <p:spPr>
          <a:xfrm xmlns:a="http://schemas.openxmlformats.org/drawingml/2006/main">
            <a:off x="609600" y="280035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0000"/>
                </a:solidFill>
              </a:defRPr>
            </a:pPr>
            <a:r>
              <a:rPr sz="2025" b="1">
                <a:solidFill>
                  <a:srgbClr val="000000"/>
                </a:solidFill>
              </a:rPr>
              <a:t>Find capacity</a:t>
            </a:r>
          </a:p>
        </p:txBody>
      </p:sp>
      <p:sp>
        <p:nvSpPr>
          <p:cNvPr id="7" name="">
            <a:extLst xmlns:a="http://schemas.openxmlformats.org/drawingml/2006/main">
              <a:ext uri="{FF2B5EF4-FFF2-40B4-BE49-F238E27FC236}">
                <a16:creationId xmlns:a16="http://schemas.microsoft.com/office/drawing/2014/main" id="{373C065B-E82C-4FEA-9A9A-2B520D7A699C}"/>
              </a:ext>
            </a:extLst>
          </p:cNvPr>
          <p:cNvSpPr>
            <a:spLocks xmlns:a="http://schemas.openxmlformats.org/drawingml/2006/main" noGrp="1"/>
          </p:cNvSpPr>
          <p:nvPr/>
        </p:nvSpPr>
        <p:spPr>
          <a:xfrm xmlns:a="http://schemas.openxmlformats.org/drawingml/2006/main">
            <a:off x="609600" y="3409950"/>
            <a:ext cx="3143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E6470"/>
                </a:solidFill>
              </a:defRPr>
            </a:pPr>
            <a:r>
              <a:rPr sz="1500" b="0">
                <a:solidFill>
                  <a:srgbClr val="5E6470"/>
                </a:solidFill>
              </a:rPr>
              <a:t>Check a qualified technician and a compatible bay for the full service duration.</a:t>
            </a:r>
          </a:p>
        </p:txBody>
      </p:sp>
      <p:sp>
        <p:nvSpPr>
          <p:cNvPr id="8" name="">
            <a:extLst xmlns:a="http://schemas.openxmlformats.org/drawingml/2006/main">
              <a:ext uri="{FF2B5EF4-FFF2-40B4-BE49-F238E27FC236}">
                <a16:creationId xmlns:a16="http://schemas.microsoft.com/office/drawing/2014/main" id="{39AF91F1-0EF7-406B-93E9-088D92C8FD3E}"/>
              </a:ext>
            </a:extLst>
          </p:cNvPr>
          <p:cNvSpPr>
            <a:spLocks xmlns:a="http://schemas.openxmlformats.org/drawingml/2006/main" noGrp="1"/>
          </p:cNvSpPr>
          <p:nvPr/>
        </p:nvSpPr>
        <p:spPr>
          <a:xfrm xmlns:a="http://schemas.openxmlformats.org/drawingml/2006/main">
            <a:off x="4314825" y="1771650"/>
            <a:ext cx="3143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800" b="1">
                <a:solidFill>
                  <a:srgbClr val="3D8DFF"/>
                </a:solidFill>
              </a:defRPr>
            </a:pPr>
            <a:r>
              <a:rPr sz="4800" b="1">
                <a:solidFill>
                  <a:srgbClr val="3D8DFF"/>
                </a:solidFill>
              </a:rPr>
              <a:t>02</a:t>
            </a:r>
          </a:p>
        </p:txBody>
      </p:sp>
      <p:sp>
        <p:nvSpPr>
          <p:cNvPr id="9" name="">
            <a:extLst xmlns:a="http://schemas.openxmlformats.org/drawingml/2006/main">
              <a:ext uri="{FF2B5EF4-FFF2-40B4-BE49-F238E27FC236}">
                <a16:creationId xmlns:a16="http://schemas.microsoft.com/office/drawing/2014/main" id="{021E051A-A7E0-42CE-981D-0D38BDE8672C}"/>
              </a:ext>
            </a:extLst>
          </p:cNvPr>
          <p:cNvSpPr>
            <a:spLocks xmlns:a="http://schemas.openxmlformats.org/drawingml/2006/main" noGrp="1"/>
          </p:cNvSpPr>
          <p:nvPr/>
        </p:nvSpPr>
        <p:spPr>
          <a:xfrm xmlns:a="http://schemas.openxmlformats.org/drawingml/2006/main">
            <a:off x="4314825" y="280035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0000"/>
                </a:solidFill>
              </a:defRPr>
            </a:pPr>
            <a:r>
              <a:rPr sz="2025" b="1">
                <a:solidFill>
                  <a:srgbClr val="000000"/>
                </a:solidFill>
              </a:rPr>
              <a:t>Commit atomically</a:t>
            </a:r>
          </a:p>
        </p:txBody>
      </p:sp>
      <p:sp>
        <p:nvSpPr>
          <p:cNvPr id="10" name="">
            <a:extLst xmlns:a="http://schemas.openxmlformats.org/drawingml/2006/main">
              <a:ext uri="{FF2B5EF4-FFF2-40B4-BE49-F238E27FC236}">
                <a16:creationId xmlns:a16="http://schemas.microsoft.com/office/drawing/2014/main" id="{C5981720-58C6-4A22-B100-1FE9DAAA8FC9}"/>
              </a:ext>
            </a:extLst>
          </p:cNvPr>
          <p:cNvSpPr>
            <a:spLocks xmlns:a="http://schemas.openxmlformats.org/drawingml/2006/main" noGrp="1"/>
          </p:cNvSpPr>
          <p:nvPr/>
        </p:nvSpPr>
        <p:spPr>
          <a:xfrm xmlns:a="http://schemas.openxmlformats.org/drawingml/2006/main">
            <a:off x="4314825" y="3409950"/>
            <a:ext cx="3143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E6470"/>
                </a:solidFill>
              </a:defRPr>
            </a:pPr>
            <a:r>
              <a:rPr sz="1500" b="0">
                <a:solidFill>
                  <a:srgbClr val="5E6470"/>
                </a:solidFill>
              </a:rPr>
              <a:t>Persist the customer, vehicle, technician and bay as one confirmed appointment.</a:t>
            </a:r>
          </a:p>
        </p:txBody>
      </p:sp>
      <p:sp>
        <p:nvSpPr>
          <p:cNvPr id="11" name="">
            <a:extLst xmlns:a="http://schemas.openxmlformats.org/drawingml/2006/main">
              <a:ext uri="{FF2B5EF4-FFF2-40B4-BE49-F238E27FC236}">
                <a16:creationId xmlns:a16="http://schemas.microsoft.com/office/drawing/2014/main" id="{7AB92FCE-479F-419B-9002-CB254E03AB2A}"/>
              </a:ext>
            </a:extLst>
          </p:cNvPr>
          <p:cNvSpPr>
            <a:spLocks xmlns:a="http://schemas.openxmlformats.org/drawingml/2006/main" noGrp="1"/>
          </p:cNvSpPr>
          <p:nvPr/>
        </p:nvSpPr>
        <p:spPr>
          <a:xfrm xmlns:a="http://schemas.openxmlformats.org/drawingml/2006/main">
            <a:off x="8020050" y="1771650"/>
            <a:ext cx="3143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800" b="1">
                <a:solidFill>
                  <a:srgbClr val="000000"/>
                </a:solidFill>
              </a:defRPr>
            </a:pPr>
            <a:r>
              <a:rPr sz="4800" b="1">
                <a:solidFill>
                  <a:srgbClr val="000000"/>
                </a:solidFill>
              </a:rPr>
              <a:t>03</a:t>
            </a:r>
          </a:p>
        </p:txBody>
      </p:sp>
      <p:sp>
        <p:nvSpPr>
          <p:cNvPr id="12" name="">
            <a:extLst xmlns:a="http://schemas.openxmlformats.org/drawingml/2006/main">
              <a:ext uri="{FF2B5EF4-FFF2-40B4-BE49-F238E27FC236}">
                <a16:creationId xmlns:a16="http://schemas.microsoft.com/office/drawing/2014/main" id="{A0E922AB-B0E2-4125-BCCC-DD9245FCC5EB}"/>
              </a:ext>
            </a:extLst>
          </p:cNvPr>
          <p:cNvSpPr>
            <a:spLocks xmlns:a="http://schemas.openxmlformats.org/drawingml/2006/main" noGrp="1"/>
          </p:cNvSpPr>
          <p:nvPr/>
        </p:nvSpPr>
        <p:spPr>
          <a:xfrm xmlns:a="http://schemas.openxmlformats.org/drawingml/2006/main">
            <a:off x="8020050" y="280035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0000"/>
                </a:solidFill>
              </a:defRPr>
            </a:pPr>
            <a:r>
              <a:rPr sz="2025" b="1">
                <a:solidFill>
                  <a:srgbClr val="000000"/>
                </a:solidFill>
              </a:rPr>
              <a:t>Survive races</a:t>
            </a:r>
          </a:p>
        </p:txBody>
      </p:sp>
      <p:sp>
        <p:nvSpPr>
          <p:cNvPr id="13" name="">
            <a:extLst xmlns:a="http://schemas.openxmlformats.org/drawingml/2006/main">
              <a:ext uri="{FF2B5EF4-FFF2-40B4-BE49-F238E27FC236}">
                <a16:creationId xmlns:a16="http://schemas.microsoft.com/office/drawing/2014/main" id="{C21A214B-AD07-40E1-9BE4-8D8B6EE74D03}"/>
              </a:ext>
            </a:extLst>
          </p:cNvPr>
          <p:cNvSpPr>
            <a:spLocks xmlns:a="http://schemas.openxmlformats.org/drawingml/2006/main" noGrp="1"/>
          </p:cNvSpPr>
          <p:nvPr/>
        </p:nvSpPr>
        <p:spPr>
          <a:xfrm xmlns:a="http://schemas.openxmlformats.org/drawingml/2006/main">
            <a:off x="8020050" y="3409950"/>
            <a:ext cx="3143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E6470"/>
                </a:solidFill>
              </a:defRPr>
            </a:pPr>
            <a:r>
              <a:rPr sz="1500" b="0">
                <a:solidFill>
                  <a:srgbClr val="5E6470"/>
                </a:solidFill>
              </a:rPr>
              <a:t>Reject double-booking and safely replay a request after a client timeout.</a:t>
            </a:r>
          </a:p>
        </p:txBody>
      </p:sp>
      <p:sp>
        <p:nvSpPr>
          <p:cNvPr id="14" name="">
            <a:extLst xmlns:a="http://schemas.openxmlformats.org/drawingml/2006/main">
              <a:ext uri="{FF2B5EF4-FFF2-40B4-BE49-F238E27FC236}">
                <a16:creationId xmlns:a16="http://schemas.microsoft.com/office/drawing/2014/main" id="{5915436E-75FC-4EEF-86D9-3CD723ACE7D4}"/>
              </a:ext>
            </a:extLst>
          </p:cNvPr>
          <p:cNvSpPr>
            <a:spLocks xmlns:a="http://schemas.openxmlformats.org/drawingml/2006/main" noGrp="1"/>
          </p:cNvSpPr>
          <p:nvPr/>
        </p:nvSpPr>
        <p:spPr>
          <a:xfrm xmlns:a="http://schemas.openxmlformats.org/drawingml/2006/main">
            <a:off x="609600" y="5219700"/>
            <a:ext cx="10972800" cy="742950"/>
          </a:xfrm>
          <a:prstGeom xmlns:a="http://schemas.openxmlformats.org/drawingml/2006/main" prst="rect">
            <a:avLst/>
          </a:prstGeom>
          <a:solidFill xmlns:a="http://schemas.openxmlformats.org/drawingml/2006/main">
            <a:srgbClr val="EEF7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452F14E-69E5-43A3-954D-9B3A62ED4327}"/>
              </a:ext>
            </a:extLst>
          </p:cNvPr>
          <p:cNvSpPr>
            <a:spLocks xmlns:a="http://schemas.openxmlformats.org/drawingml/2006/main" noGrp="1"/>
          </p:cNvSpPr>
          <p:nvPr/>
        </p:nvSpPr>
        <p:spPr>
          <a:xfrm xmlns:a="http://schemas.openxmlformats.org/drawingml/2006/main">
            <a:off x="838200" y="5410200"/>
            <a:ext cx="10515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0000"/>
                </a:solidFill>
              </a:defRPr>
            </a:pPr>
            <a:r>
              <a:rPr sz="1800" b="1">
                <a:solidFill>
                  <a:srgbClr val="000000"/>
                </a:solidFill>
              </a:rPr>
              <a:t>User outcome: a confirmed slot is a durable promise, not a best-effort guess.</a:t>
            </a:r>
          </a:p>
        </p:txBody>
      </p:sp>
    </p:spTree>
    <p:extLst>
      <p:ext uri="{BB962C8B-B14F-4D97-AF65-F5344CB8AC3E}">
        <p14:creationId xmlns:p14="http://schemas.microsoft.com/office/powerpoint/2010/main" val="19860183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73072E7-54B9-4757-91D9-1D4EAE032048}"/>
              </a:ext>
            </a:extLst>
          </p:cNvPr>
          <p:cNvSpPr>
            <a:spLocks xmlns:a="http://schemas.openxmlformats.org/drawingml/2006/main" noGrp="1"/>
          </p:cNvSpPr>
          <p:nvPr/>
        </p:nvSpPr>
        <p:spPr>
          <a:xfrm xmlns:a="http://schemas.openxmlformats.org/drawingml/2006/main">
            <a:off x="609600" y="2857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UNIFIED SERVICE SCHEDULER</a:t>
            </a:r>
          </a:p>
        </p:txBody>
      </p:sp>
      <p:sp>
        <p:nvSpPr>
          <p:cNvPr id="2" name="">
            <a:extLst xmlns:a="http://schemas.openxmlformats.org/drawingml/2006/main">
              <a:ext uri="{FF2B5EF4-FFF2-40B4-BE49-F238E27FC236}">
                <a16:creationId xmlns:a16="http://schemas.microsoft.com/office/drawing/2014/main" id="{145854EC-D3E8-440D-AFFD-00BF1478B19B}"/>
              </a:ext>
            </a:extLst>
          </p:cNvPr>
          <p:cNvSpPr>
            <a:spLocks xmlns:a="http://schemas.openxmlformats.org/drawingml/2006/main" noGrp="1"/>
          </p:cNvSpPr>
          <p:nvPr/>
        </p:nvSpPr>
        <p:spPr>
          <a:xfrm xmlns:a="http://schemas.openxmlformats.org/drawingml/2006/main">
            <a:off x="609600" y="533400"/>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000000"/>
                </a:solidFill>
              </a:defRPr>
            </a:pPr>
            <a:r>
              <a:rPr sz="3000" b="1">
                <a:solidFill>
                  <a:srgbClr val="000000"/>
                </a:solidFill>
              </a:rPr>
              <a:t>One transactional boundary keeps the design simple and correct</a:t>
            </a:r>
          </a:p>
        </p:txBody>
      </p:sp>
      <p:sp>
        <p:nvSpPr>
          <p:cNvPr id="3" name="">
            <a:extLst xmlns:a="http://schemas.openxmlformats.org/drawingml/2006/main">
              <a:ext uri="{FF2B5EF4-FFF2-40B4-BE49-F238E27FC236}">
                <a16:creationId xmlns:a16="http://schemas.microsoft.com/office/drawing/2014/main" id="{C2E88D5E-20AD-46E9-AF05-CDD31D4ACDBA}"/>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1BB5DA49-8CD8-42F7-978A-28D5B52386AC}"/>
              </a:ext>
            </a:extLst>
          </p:cNvPr>
          <p:cNvSpPr>
            <a:spLocks xmlns:a="http://schemas.openxmlformats.org/drawingml/2006/main" noGrp="1"/>
          </p:cNvSpPr>
          <p:nvPr/>
        </p:nvSpPr>
        <p:spPr>
          <a:xfrm xmlns:a="http://schemas.openxmlformats.org/drawingml/2006/main">
            <a:off x="11144250" y="64198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470"/>
                </a:solidFill>
              </a:defRPr>
            </a:pPr>
            <a:r>
              <a:rPr sz="975" b="0">
                <a:solidFill>
                  <a:srgbClr val="5E6470"/>
                </a:solidFill>
              </a:rPr>
              <a:t>03</a:t>
            </a:r>
          </a:p>
        </p:txBody>
      </p:sp>
      <p:sp>
        <p:nvSpPr>
          <p:cNvPr id="5" name="">
            <a:extLst xmlns:a="http://schemas.openxmlformats.org/drawingml/2006/main">
              <a:ext uri="{FF2B5EF4-FFF2-40B4-BE49-F238E27FC236}">
                <a16:creationId xmlns:a16="http://schemas.microsoft.com/office/drawing/2014/main" id="{05AE8A7B-B54C-4C79-A799-A8E634EE2502}"/>
              </a:ext>
            </a:extLst>
          </p:cNvPr>
          <p:cNvSpPr>
            <a:spLocks xmlns:a="http://schemas.openxmlformats.org/drawingml/2006/main" noGrp="1"/>
          </p:cNvSpPr>
          <p:nvPr/>
        </p:nvSpPr>
        <p:spPr>
          <a:xfrm xmlns:a="http://schemas.openxmlformats.org/drawingml/2006/main">
            <a:off x="2667000" y="3105150"/>
            <a:ext cx="552450" cy="2667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6" name="">
            <a:extLst xmlns:a="http://schemas.openxmlformats.org/drawingml/2006/main">
              <a:ext uri="{FF2B5EF4-FFF2-40B4-BE49-F238E27FC236}">
                <a16:creationId xmlns:a16="http://schemas.microsoft.com/office/drawing/2014/main" id="{424518B6-7CE7-49DC-99FD-139D7BE5DDB6}"/>
              </a:ext>
            </a:extLst>
          </p:cNvPr>
          <p:cNvSpPr>
            <a:spLocks xmlns:a="http://schemas.openxmlformats.org/drawingml/2006/main" noGrp="1"/>
          </p:cNvSpPr>
          <p:nvPr/>
        </p:nvSpPr>
        <p:spPr>
          <a:xfrm xmlns:a="http://schemas.openxmlformats.org/drawingml/2006/main">
            <a:off x="9029700" y="3105150"/>
            <a:ext cx="552450" cy="2667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7" name="">
            <a:extLst xmlns:a="http://schemas.openxmlformats.org/drawingml/2006/main">
              <a:ext uri="{FF2B5EF4-FFF2-40B4-BE49-F238E27FC236}">
                <a16:creationId xmlns:a16="http://schemas.microsoft.com/office/drawing/2014/main" id="{71C78B23-A43E-43BD-94C8-CA2AAFBA70BC}"/>
              </a:ext>
            </a:extLst>
          </p:cNvPr>
          <p:cNvSpPr>
            <a:spLocks xmlns:a="http://schemas.openxmlformats.org/drawingml/2006/main" noGrp="1"/>
          </p:cNvSpPr>
          <p:nvPr/>
        </p:nvSpPr>
        <p:spPr>
          <a:xfrm xmlns:a="http://schemas.openxmlformats.org/drawingml/2006/main">
            <a:off x="609600" y="2343150"/>
            <a:ext cx="1962150" cy="1809750"/>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sp>
        <p:nvSpPr>
          <p:cNvPr id="8" name="">
            <a:extLst xmlns:a="http://schemas.openxmlformats.org/drawingml/2006/main">
              <a:ext uri="{FF2B5EF4-FFF2-40B4-BE49-F238E27FC236}">
                <a16:creationId xmlns:a16="http://schemas.microsoft.com/office/drawing/2014/main" id="{1863554E-4BD6-463F-92DB-0886EDAC446F}"/>
              </a:ext>
            </a:extLst>
          </p:cNvPr>
          <p:cNvSpPr>
            <a:spLocks xmlns:a="http://schemas.openxmlformats.org/drawingml/2006/main" noGrp="1"/>
          </p:cNvSpPr>
          <p:nvPr/>
        </p:nvSpPr>
        <p:spPr>
          <a:xfrm xmlns:a="http://schemas.openxmlformats.org/drawingml/2006/main">
            <a:off x="838200" y="2647950"/>
            <a:ext cx="1504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000000"/>
                </a:solidFill>
              </a:defRPr>
            </a:pPr>
            <a:r>
              <a:rPr sz="1875" b="1">
                <a:solidFill>
                  <a:srgbClr val="000000"/>
                </a:solidFill>
              </a:rPr>
              <a:t>API client</a:t>
            </a:r>
          </a:p>
        </p:txBody>
      </p:sp>
      <p:sp>
        <p:nvSpPr>
          <p:cNvPr id="9" name="">
            <a:extLst xmlns:a="http://schemas.openxmlformats.org/drawingml/2006/main">
              <a:ext uri="{FF2B5EF4-FFF2-40B4-BE49-F238E27FC236}">
                <a16:creationId xmlns:a16="http://schemas.microsoft.com/office/drawing/2014/main" id="{30AB94C0-A246-4D9D-AE43-86B0315F11C7}"/>
              </a:ext>
            </a:extLst>
          </p:cNvPr>
          <p:cNvSpPr>
            <a:spLocks xmlns:a="http://schemas.openxmlformats.org/drawingml/2006/main" noGrp="1"/>
          </p:cNvSpPr>
          <p:nvPr/>
        </p:nvSpPr>
        <p:spPr>
          <a:xfrm xmlns:a="http://schemas.openxmlformats.org/drawingml/2006/main">
            <a:off x="838200" y="3162300"/>
            <a:ext cx="15049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0">
                <a:solidFill>
                  <a:srgbClr val="5E6470"/>
                </a:solidFill>
              </a:defRPr>
            </a:pPr>
            <a:r>
              <a:rPr sz="1425" b="0">
                <a:solidFill>
                  <a:srgbClr val="5E6470"/>
                </a:solidFill>
              </a:rPr>
              <a:t>Swagger</a:t>
            </a:r>
          </a:p>
          <a:p xmlns:a="http://schemas.openxmlformats.org/drawingml/2006/main">
            <a:pPr algn="ctr">
              <a:defRPr sz="1425" b="0">
                <a:solidFill>
                  <a:srgbClr val="5E6470"/>
                </a:solidFill>
              </a:defRPr>
            </a:pPr>
            <a:r>
              <a:rPr sz="1425" b="0">
                <a:solidFill>
                  <a:srgbClr val="5E6470"/>
                </a:solidFill>
              </a:rPr>
              <a:t>cURL</a:t>
            </a:r>
          </a:p>
          <a:p xmlns:a="http://schemas.openxmlformats.org/drawingml/2006/main">
            <a:pPr algn="ctr">
              <a:defRPr sz="1425" b="0">
                <a:solidFill>
                  <a:srgbClr val="5E6470"/>
                </a:solidFill>
              </a:defRPr>
            </a:pPr>
            <a:r>
              <a:rPr sz="1425" b="0">
                <a:solidFill>
                  <a:srgbClr val="5E6470"/>
                </a:solidFill>
              </a:rPr>
              <a:t>future web UI</a:t>
            </a:r>
          </a:p>
        </p:txBody>
      </p:sp>
      <p:sp>
        <p:nvSpPr>
          <p:cNvPr id="10" name="">
            <a:extLst xmlns:a="http://schemas.openxmlformats.org/drawingml/2006/main">
              <a:ext uri="{FF2B5EF4-FFF2-40B4-BE49-F238E27FC236}">
                <a16:creationId xmlns:a16="http://schemas.microsoft.com/office/drawing/2014/main" id="{5C9083A5-F806-477C-A258-5B2D4C0231BA}"/>
              </a:ext>
            </a:extLst>
          </p:cNvPr>
          <p:cNvSpPr>
            <a:spLocks xmlns:a="http://schemas.openxmlformats.org/drawingml/2006/main" noGrp="1"/>
          </p:cNvSpPr>
          <p:nvPr/>
        </p:nvSpPr>
        <p:spPr>
          <a:xfrm xmlns:a="http://schemas.openxmlformats.org/drawingml/2006/main">
            <a:off x="3333750" y="1676400"/>
            <a:ext cx="5524500" cy="31432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94258DF8-8AC3-4D25-9B1A-CCF20B1EDC28}"/>
              </a:ext>
            </a:extLst>
          </p:cNvPr>
          <p:cNvSpPr>
            <a:spLocks xmlns:a="http://schemas.openxmlformats.org/drawingml/2006/main" noGrp="1"/>
          </p:cNvSpPr>
          <p:nvPr/>
        </p:nvSpPr>
        <p:spPr>
          <a:xfrm xmlns:a="http://schemas.openxmlformats.org/drawingml/2006/main">
            <a:off x="3638550" y="1924050"/>
            <a:ext cx="4914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000000"/>
                </a:solidFill>
              </a:defRPr>
            </a:pPr>
            <a:r>
              <a:rPr sz="2100" b="1">
                <a:solidFill>
                  <a:srgbClr val="000000"/>
                </a:solidFill>
              </a:rPr>
              <a:t>Stateless NestJS modular monolith</a:t>
            </a:r>
          </a:p>
        </p:txBody>
      </p:sp>
      <p:sp>
        <p:nvSpPr>
          <p:cNvPr id="12" name="">
            <a:extLst xmlns:a="http://schemas.openxmlformats.org/drawingml/2006/main">
              <a:ext uri="{FF2B5EF4-FFF2-40B4-BE49-F238E27FC236}">
                <a16:creationId xmlns:a16="http://schemas.microsoft.com/office/drawing/2014/main" id="{803F76CB-B74D-4A16-9865-1D028FAACACA}"/>
              </a:ext>
            </a:extLst>
          </p:cNvPr>
          <p:cNvSpPr>
            <a:spLocks xmlns:a="http://schemas.openxmlformats.org/drawingml/2006/main" noGrp="1"/>
          </p:cNvSpPr>
          <p:nvPr/>
        </p:nvSpPr>
        <p:spPr>
          <a:xfrm xmlns:a="http://schemas.openxmlformats.org/drawingml/2006/main">
            <a:off x="3638550" y="2571750"/>
            <a:ext cx="4914900" cy="5905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7D94025-164D-4FA1-8B87-C170D966312A}"/>
              </a:ext>
            </a:extLst>
          </p:cNvPr>
          <p:cNvSpPr>
            <a:spLocks xmlns:a="http://schemas.openxmlformats.org/drawingml/2006/main" noGrp="1"/>
          </p:cNvSpPr>
          <p:nvPr/>
        </p:nvSpPr>
        <p:spPr>
          <a:xfrm xmlns:a="http://schemas.openxmlformats.org/drawingml/2006/main">
            <a:off x="3829050" y="2714625"/>
            <a:ext cx="4533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000000"/>
                </a:solidFill>
              </a:defRPr>
            </a:pPr>
            <a:r>
              <a:rPr sz="1650" b="1">
                <a:solidFill>
                  <a:srgbClr val="000000"/>
                </a:solidFill>
              </a:rPr>
              <a:t>Appointments · transaction orchestration</a:t>
            </a:r>
          </a:p>
        </p:txBody>
      </p:sp>
      <p:sp>
        <p:nvSpPr>
          <p:cNvPr id="14" name="">
            <a:extLst xmlns:a="http://schemas.openxmlformats.org/drawingml/2006/main">
              <a:ext uri="{FF2B5EF4-FFF2-40B4-BE49-F238E27FC236}">
                <a16:creationId xmlns:a16="http://schemas.microsoft.com/office/drawing/2014/main" id="{49E0EB5F-6201-45EB-96A3-E897E0211B35}"/>
              </a:ext>
            </a:extLst>
          </p:cNvPr>
          <p:cNvSpPr>
            <a:spLocks xmlns:a="http://schemas.openxmlformats.org/drawingml/2006/main" noGrp="1"/>
          </p:cNvSpPr>
          <p:nvPr/>
        </p:nvSpPr>
        <p:spPr>
          <a:xfrm xmlns:a="http://schemas.openxmlformats.org/drawingml/2006/main">
            <a:off x="3638550" y="3314700"/>
            <a:ext cx="4914900" cy="5905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EC46138-1B98-4557-A6FB-334AEF6141C7}"/>
              </a:ext>
            </a:extLst>
          </p:cNvPr>
          <p:cNvSpPr>
            <a:spLocks xmlns:a="http://schemas.openxmlformats.org/drawingml/2006/main" noGrp="1"/>
          </p:cNvSpPr>
          <p:nvPr/>
        </p:nvSpPr>
        <p:spPr>
          <a:xfrm xmlns:a="http://schemas.openxmlformats.org/drawingml/2006/main">
            <a:off x="3829050" y="3457575"/>
            <a:ext cx="4533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0">
                <a:solidFill>
                  <a:srgbClr val="000000"/>
                </a:solidFill>
              </a:defRPr>
            </a:pPr>
            <a:r>
              <a:rPr sz="1575" b="0">
                <a:solidFill>
                  <a:srgbClr val="000000"/>
                </a:solidFill>
              </a:rPr>
              <a:t>Reference data · Vehicles · Resources</a:t>
            </a:r>
          </a:p>
        </p:txBody>
      </p:sp>
      <p:sp>
        <p:nvSpPr>
          <p:cNvPr id="16" name="">
            <a:extLst xmlns:a="http://schemas.openxmlformats.org/drawingml/2006/main">
              <a:ext uri="{FF2B5EF4-FFF2-40B4-BE49-F238E27FC236}">
                <a16:creationId xmlns:a16="http://schemas.microsoft.com/office/drawing/2014/main" id="{D259D62D-7B34-409F-A7E9-31F8E5E96C7E}"/>
              </a:ext>
            </a:extLst>
          </p:cNvPr>
          <p:cNvSpPr>
            <a:spLocks xmlns:a="http://schemas.openxmlformats.org/drawingml/2006/main" noGrp="1"/>
          </p:cNvSpPr>
          <p:nvPr/>
        </p:nvSpPr>
        <p:spPr>
          <a:xfrm xmlns:a="http://schemas.openxmlformats.org/drawingml/2006/main">
            <a:off x="3676650" y="4171950"/>
            <a:ext cx="483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E6470"/>
                </a:solidFill>
              </a:defRPr>
            </a:pPr>
            <a:r>
              <a:rPr sz="1275" b="0">
                <a:solidFill>
                  <a:srgbClr val="5E6470"/>
                </a:solidFill>
              </a:rPr>
              <a:t>Validation · errors · logs · metrics · traces · health</a:t>
            </a:r>
          </a:p>
        </p:txBody>
      </p:sp>
      <p:sp>
        <p:nvSpPr>
          <p:cNvPr id="17" name="">
            <a:extLst xmlns:a="http://schemas.openxmlformats.org/drawingml/2006/main">
              <a:ext uri="{FF2B5EF4-FFF2-40B4-BE49-F238E27FC236}">
                <a16:creationId xmlns:a16="http://schemas.microsoft.com/office/drawing/2014/main" id="{FB661A28-06E3-4390-A780-6347464747E6}"/>
              </a:ext>
            </a:extLst>
          </p:cNvPr>
          <p:cNvSpPr>
            <a:spLocks xmlns:a="http://schemas.openxmlformats.org/drawingml/2006/main" noGrp="1"/>
          </p:cNvSpPr>
          <p:nvPr/>
        </p:nvSpPr>
        <p:spPr>
          <a:xfrm xmlns:a="http://schemas.openxmlformats.org/drawingml/2006/main">
            <a:off x="9677400" y="2343150"/>
            <a:ext cx="1905000" cy="1809750"/>
          </a:xfrm>
          <a:prstGeom xmlns:a="http://schemas.openxmlformats.org/drawingml/2006/main" prst="rect">
            <a:avLst/>
          </a:prstGeom>
          <a:solidFill xmlns:a="http://schemas.openxmlformats.org/drawingml/2006/main">
            <a:srgbClr val="111827"/>
          </a:solidFill>
          <a:ln xmlns:a="http://schemas.openxmlformats.org/drawingml/2006/main" w="9525">
            <a:solidFill>
              <a:srgbClr val="111827"/>
            </a:solidFill>
            <a:prstDash val="solid"/>
          </a:ln>
        </p:spPr>
      </p:sp>
      <p:sp>
        <p:nvSpPr>
          <p:cNvPr id="18" name="">
            <a:extLst xmlns:a="http://schemas.openxmlformats.org/drawingml/2006/main">
              <a:ext uri="{FF2B5EF4-FFF2-40B4-BE49-F238E27FC236}">
                <a16:creationId xmlns:a16="http://schemas.microsoft.com/office/drawing/2014/main" id="{82F914DF-E726-4F5C-B592-BF2FBD12B688}"/>
              </a:ext>
            </a:extLst>
          </p:cNvPr>
          <p:cNvSpPr>
            <a:spLocks xmlns:a="http://schemas.openxmlformats.org/drawingml/2006/main" noGrp="1"/>
          </p:cNvSpPr>
          <p:nvPr/>
        </p:nvSpPr>
        <p:spPr>
          <a:xfrm xmlns:a="http://schemas.openxmlformats.org/drawingml/2006/main">
            <a:off x="9867900" y="2647950"/>
            <a:ext cx="152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FFFFFF"/>
                </a:solidFill>
              </a:defRPr>
            </a:pPr>
            <a:r>
              <a:rPr sz="1875" b="1">
                <a:solidFill>
                  <a:srgbClr val="FFFFFF"/>
                </a:solidFill>
              </a:rPr>
              <a:t>PostgreSQL 17</a:t>
            </a:r>
          </a:p>
        </p:txBody>
      </p:sp>
      <p:sp>
        <p:nvSpPr>
          <p:cNvPr id="19" name="">
            <a:extLst xmlns:a="http://schemas.openxmlformats.org/drawingml/2006/main">
              <a:ext uri="{FF2B5EF4-FFF2-40B4-BE49-F238E27FC236}">
                <a16:creationId xmlns:a16="http://schemas.microsoft.com/office/drawing/2014/main" id="{3F4DC271-07D7-4D99-B9C5-AC3765A1169E}"/>
              </a:ext>
            </a:extLst>
          </p:cNvPr>
          <p:cNvSpPr>
            <a:spLocks xmlns:a="http://schemas.openxmlformats.org/drawingml/2006/main" noGrp="1"/>
          </p:cNvSpPr>
          <p:nvPr/>
        </p:nvSpPr>
        <p:spPr>
          <a:xfrm xmlns:a="http://schemas.openxmlformats.org/drawingml/2006/main">
            <a:off x="9867900" y="3209925"/>
            <a:ext cx="1524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0">
                <a:solidFill>
                  <a:srgbClr val="FFFFFF"/>
                </a:solidFill>
              </a:defRPr>
            </a:pPr>
            <a:r>
              <a:rPr sz="1425" b="0">
                <a:solidFill>
                  <a:srgbClr val="FFFFFF"/>
                </a:solidFill>
              </a:rPr>
              <a:t>Transactions</a:t>
            </a:r>
          </a:p>
          <a:p xmlns:a="http://schemas.openxmlformats.org/drawingml/2006/main">
            <a:pPr algn="ctr">
              <a:defRPr sz="1425" b="0">
                <a:solidFill>
                  <a:srgbClr val="FFFFFF"/>
                </a:solidFill>
              </a:defRPr>
            </a:pPr>
            <a:r>
              <a:rPr sz="1425" b="0">
                <a:solidFill>
                  <a:srgbClr val="FFFFFF"/>
                </a:solidFill>
              </a:rPr>
              <a:t>range types</a:t>
            </a:r>
          </a:p>
          <a:p xmlns:a="http://schemas.openxmlformats.org/drawingml/2006/main">
            <a:pPr algn="ctr">
              <a:defRPr sz="1425" b="0">
                <a:solidFill>
                  <a:srgbClr val="FFFFFF"/>
                </a:solidFill>
              </a:defRPr>
            </a:pPr>
            <a:r>
              <a:rPr sz="1425" b="0">
                <a:solidFill>
                  <a:srgbClr val="FFFFFF"/>
                </a:solidFill>
              </a:rPr>
              <a:t>GiST constraints</a:t>
            </a:r>
          </a:p>
        </p:txBody>
      </p:sp>
      <p:sp>
        <p:nvSpPr>
          <p:cNvPr id="20" name="">
            <a:extLst xmlns:a="http://schemas.openxmlformats.org/drawingml/2006/main">
              <a:ext uri="{FF2B5EF4-FFF2-40B4-BE49-F238E27FC236}">
                <a16:creationId xmlns:a16="http://schemas.microsoft.com/office/drawing/2014/main" id="{CCEDAEB7-5041-4DBF-A7FE-441CEE31F47C}"/>
              </a:ext>
            </a:extLst>
          </p:cNvPr>
          <p:cNvSpPr>
            <a:spLocks xmlns:a="http://schemas.openxmlformats.org/drawingml/2006/main" noGrp="1"/>
          </p:cNvSpPr>
          <p:nvPr/>
        </p:nvSpPr>
        <p:spPr>
          <a:xfrm xmlns:a="http://schemas.openxmlformats.org/drawingml/2006/main">
            <a:off x="2000250" y="5381625"/>
            <a:ext cx="819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000000"/>
                </a:solidFill>
              </a:defRPr>
            </a:pPr>
            <a:r>
              <a:rPr sz="1875" b="1">
                <a:solidFill>
                  <a:srgbClr val="000000"/>
                </a:solidFill>
              </a:rPr>
              <a:t>The API scales horizontally; PostgreSQL remains the authoritative writer.</a:t>
            </a:r>
          </a:p>
        </p:txBody>
      </p:sp>
    </p:spTree>
    <p:extLst>
      <p:ext uri="{BB962C8B-B14F-4D97-AF65-F5344CB8AC3E}">
        <p14:creationId xmlns:p14="http://schemas.microsoft.com/office/powerpoint/2010/main" val="82298741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B7316DA8-E85D-41EB-8A1D-02A6319CB5A6}"/>
              </a:ext>
            </a:extLst>
          </p:cNvPr>
          <p:cNvSpPr>
            <a:spLocks xmlns:a="http://schemas.openxmlformats.org/drawingml/2006/main" noGrp="1"/>
          </p:cNvSpPr>
          <p:nvPr/>
        </p:nvSpPr>
        <p:spPr>
          <a:xfrm xmlns:a="http://schemas.openxmlformats.org/drawingml/2006/main">
            <a:off x="609600" y="2857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UNIFIED SERVICE SCHEDULER</a:t>
            </a:r>
          </a:p>
        </p:txBody>
      </p:sp>
      <p:sp>
        <p:nvSpPr>
          <p:cNvPr id="2" name="">
            <a:extLst xmlns:a="http://schemas.openxmlformats.org/drawingml/2006/main">
              <a:ext uri="{FF2B5EF4-FFF2-40B4-BE49-F238E27FC236}">
                <a16:creationId xmlns:a16="http://schemas.microsoft.com/office/drawing/2014/main" id="{3AB77295-CEEA-44BC-8CAC-DCB6EE009A9E}"/>
              </a:ext>
            </a:extLst>
          </p:cNvPr>
          <p:cNvSpPr>
            <a:spLocks xmlns:a="http://schemas.openxmlformats.org/drawingml/2006/main" noGrp="1"/>
          </p:cNvSpPr>
          <p:nvPr/>
        </p:nvSpPr>
        <p:spPr>
          <a:xfrm xmlns:a="http://schemas.openxmlformats.org/drawingml/2006/main">
            <a:off x="609600" y="533400"/>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000000"/>
                </a:solidFill>
              </a:defRPr>
            </a:pPr>
            <a:r>
              <a:rPr sz="3000" b="1">
                <a:solidFill>
                  <a:srgbClr val="000000"/>
                </a:solidFill>
              </a:rPr>
              <a:t>Booking uses layered concurrency controls, not one fragile lock</a:t>
            </a:r>
          </a:p>
        </p:txBody>
      </p:sp>
      <p:sp>
        <p:nvSpPr>
          <p:cNvPr id="3" name="">
            <a:extLst xmlns:a="http://schemas.openxmlformats.org/drawingml/2006/main">
              <a:ext uri="{FF2B5EF4-FFF2-40B4-BE49-F238E27FC236}">
                <a16:creationId xmlns:a16="http://schemas.microsoft.com/office/drawing/2014/main" id="{7085190D-55B9-4E3B-A110-5CE9C9CB7403}"/>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13929859-6EB6-43A6-9978-79910394B4AE}"/>
              </a:ext>
            </a:extLst>
          </p:cNvPr>
          <p:cNvSpPr>
            <a:spLocks xmlns:a="http://schemas.openxmlformats.org/drawingml/2006/main" noGrp="1"/>
          </p:cNvSpPr>
          <p:nvPr/>
        </p:nvSpPr>
        <p:spPr>
          <a:xfrm xmlns:a="http://schemas.openxmlformats.org/drawingml/2006/main">
            <a:off x="11144250" y="64198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470"/>
                </a:solidFill>
              </a:defRPr>
            </a:pPr>
            <a:r>
              <a:rPr sz="975" b="0">
                <a:solidFill>
                  <a:srgbClr val="5E6470"/>
                </a:solidFill>
              </a:rPr>
              <a:t>04</a:t>
            </a:r>
          </a:p>
        </p:txBody>
      </p:sp>
      <p:sp>
        <p:nvSpPr>
          <p:cNvPr id="5" name="">
            <a:extLst xmlns:a="http://schemas.openxmlformats.org/drawingml/2006/main">
              <a:ext uri="{FF2B5EF4-FFF2-40B4-BE49-F238E27FC236}">
                <a16:creationId xmlns:a16="http://schemas.microsoft.com/office/drawing/2014/main" id="{1608FE0F-4DFD-4859-9FF1-F9A557FEF05C}"/>
              </a:ext>
            </a:extLst>
          </p:cNvPr>
          <p:cNvSpPr>
            <a:spLocks xmlns:a="http://schemas.openxmlformats.org/drawingml/2006/main" noGrp="1"/>
          </p:cNvSpPr>
          <p:nvPr/>
        </p:nvSpPr>
        <p:spPr>
          <a:xfrm xmlns:a="http://schemas.openxmlformats.org/drawingml/2006/main">
            <a:off x="2647950" y="3000375"/>
            <a:ext cx="381000" cy="1905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6" name="">
            <a:extLst xmlns:a="http://schemas.openxmlformats.org/drawingml/2006/main">
              <a:ext uri="{FF2B5EF4-FFF2-40B4-BE49-F238E27FC236}">
                <a16:creationId xmlns:a16="http://schemas.microsoft.com/office/drawing/2014/main" id="{9AB18619-33B7-4348-BF12-F3CD35F9723A}"/>
              </a:ext>
            </a:extLst>
          </p:cNvPr>
          <p:cNvSpPr>
            <a:spLocks xmlns:a="http://schemas.openxmlformats.org/drawingml/2006/main" noGrp="1"/>
          </p:cNvSpPr>
          <p:nvPr/>
        </p:nvSpPr>
        <p:spPr>
          <a:xfrm xmlns:a="http://schemas.openxmlformats.org/drawingml/2006/main">
            <a:off x="4914900" y="3000375"/>
            <a:ext cx="381000" cy="1905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7" name="">
            <a:extLst xmlns:a="http://schemas.openxmlformats.org/drawingml/2006/main">
              <a:ext uri="{FF2B5EF4-FFF2-40B4-BE49-F238E27FC236}">
                <a16:creationId xmlns:a16="http://schemas.microsoft.com/office/drawing/2014/main" id="{09203F43-CF0D-45F6-ACB8-A90C2DC6BA41}"/>
              </a:ext>
            </a:extLst>
          </p:cNvPr>
          <p:cNvSpPr>
            <a:spLocks xmlns:a="http://schemas.openxmlformats.org/drawingml/2006/main" noGrp="1"/>
          </p:cNvSpPr>
          <p:nvPr/>
        </p:nvSpPr>
        <p:spPr>
          <a:xfrm xmlns:a="http://schemas.openxmlformats.org/drawingml/2006/main">
            <a:off x="7181850" y="3000375"/>
            <a:ext cx="381000" cy="1905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8" name="">
            <a:extLst xmlns:a="http://schemas.openxmlformats.org/drawingml/2006/main">
              <a:ext uri="{FF2B5EF4-FFF2-40B4-BE49-F238E27FC236}">
                <a16:creationId xmlns:a16="http://schemas.microsoft.com/office/drawing/2014/main" id="{062DD736-87DA-48A7-8B12-8334169EFA7D}"/>
              </a:ext>
            </a:extLst>
          </p:cNvPr>
          <p:cNvSpPr>
            <a:spLocks xmlns:a="http://schemas.openxmlformats.org/drawingml/2006/main" noGrp="1"/>
          </p:cNvSpPr>
          <p:nvPr/>
        </p:nvSpPr>
        <p:spPr>
          <a:xfrm xmlns:a="http://schemas.openxmlformats.org/drawingml/2006/main">
            <a:off x="9448800" y="3000375"/>
            <a:ext cx="381000" cy="1905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9" name="">
            <a:extLst xmlns:a="http://schemas.openxmlformats.org/drawingml/2006/main">
              <a:ext uri="{FF2B5EF4-FFF2-40B4-BE49-F238E27FC236}">
                <a16:creationId xmlns:a16="http://schemas.microsoft.com/office/drawing/2014/main" id="{DB613D3D-851F-4080-8817-B86534FE542B}"/>
              </a:ext>
            </a:extLst>
          </p:cNvPr>
          <p:cNvSpPr>
            <a:spLocks xmlns:a="http://schemas.openxmlformats.org/drawingml/2006/main" noGrp="1"/>
          </p:cNvSpPr>
          <p:nvPr/>
        </p:nvSpPr>
        <p:spPr>
          <a:xfrm xmlns:a="http://schemas.openxmlformats.org/drawingml/2006/main">
            <a:off x="609600" y="2095500"/>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3D8DFF"/>
                </a:solidFill>
              </a:defRPr>
            </a:pPr>
            <a:r>
              <a:rPr sz="2250" b="1">
                <a:solidFill>
                  <a:srgbClr val="3D8DFF"/>
                </a:solidFill>
              </a:rPr>
              <a:t>01</a:t>
            </a:r>
          </a:p>
        </p:txBody>
      </p:sp>
      <p:sp>
        <p:nvSpPr>
          <p:cNvPr id="10" name="">
            <a:extLst xmlns:a="http://schemas.openxmlformats.org/drawingml/2006/main">
              <a:ext uri="{FF2B5EF4-FFF2-40B4-BE49-F238E27FC236}">
                <a16:creationId xmlns:a16="http://schemas.microsoft.com/office/drawing/2014/main" id="{2F3E842F-DB07-4092-AAC0-3928615A6380}"/>
              </a:ext>
            </a:extLst>
          </p:cNvPr>
          <p:cNvSpPr>
            <a:spLocks xmlns:a="http://schemas.openxmlformats.org/drawingml/2006/main" noGrp="1"/>
          </p:cNvSpPr>
          <p:nvPr/>
        </p:nvSpPr>
        <p:spPr>
          <a:xfrm xmlns:a="http://schemas.openxmlformats.org/drawingml/2006/main">
            <a:off x="609600" y="2628900"/>
            <a:ext cx="1962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0000"/>
                </a:solidFill>
              </a:defRPr>
            </a:pPr>
            <a:r>
              <a:rPr sz="1800" b="1">
                <a:solidFill>
                  <a:srgbClr val="000000"/>
                </a:solidFill>
              </a:rPr>
              <a:t>Validate</a:t>
            </a:r>
          </a:p>
        </p:txBody>
      </p:sp>
      <p:sp>
        <p:nvSpPr>
          <p:cNvPr id="11" name="">
            <a:extLst xmlns:a="http://schemas.openxmlformats.org/drawingml/2006/main">
              <a:ext uri="{FF2B5EF4-FFF2-40B4-BE49-F238E27FC236}">
                <a16:creationId xmlns:a16="http://schemas.microsoft.com/office/drawing/2014/main" id="{2B4B1D0E-D4AE-495F-B4AF-E75F2C84C491}"/>
              </a:ext>
            </a:extLst>
          </p:cNvPr>
          <p:cNvSpPr>
            <a:spLocks xmlns:a="http://schemas.openxmlformats.org/drawingml/2006/main" noGrp="1"/>
          </p:cNvSpPr>
          <p:nvPr/>
        </p:nvSpPr>
        <p:spPr>
          <a:xfrm xmlns:a="http://schemas.openxmlformats.org/drawingml/2006/main">
            <a:off x="609600" y="3257550"/>
            <a:ext cx="19621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E6470"/>
                </a:solidFill>
              </a:defRPr>
            </a:pPr>
            <a:r>
              <a:rPr sz="1350" b="0">
                <a:solidFill>
                  <a:srgbClr val="5E6470"/>
                </a:solidFill>
              </a:rPr>
              <a:t>Customer, vehicle ownership, service, timezone and business hours.</a:t>
            </a:r>
          </a:p>
        </p:txBody>
      </p:sp>
      <p:sp>
        <p:nvSpPr>
          <p:cNvPr id="12" name="">
            <a:extLst xmlns:a="http://schemas.openxmlformats.org/drawingml/2006/main">
              <a:ext uri="{FF2B5EF4-FFF2-40B4-BE49-F238E27FC236}">
                <a16:creationId xmlns:a16="http://schemas.microsoft.com/office/drawing/2014/main" id="{8C32E57D-9A61-44BE-9F89-8E79BE4ED998}"/>
              </a:ext>
            </a:extLst>
          </p:cNvPr>
          <p:cNvSpPr>
            <a:spLocks xmlns:a="http://schemas.openxmlformats.org/drawingml/2006/main" noGrp="1"/>
          </p:cNvSpPr>
          <p:nvPr/>
        </p:nvSpPr>
        <p:spPr>
          <a:xfrm xmlns:a="http://schemas.openxmlformats.org/drawingml/2006/main">
            <a:off x="2876550" y="2095500"/>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3D8DFF"/>
                </a:solidFill>
              </a:defRPr>
            </a:pPr>
            <a:r>
              <a:rPr sz="2250" b="1">
                <a:solidFill>
                  <a:srgbClr val="3D8DFF"/>
                </a:solidFill>
              </a:rPr>
              <a:t>02</a:t>
            </a:r>
          </a:p>
        </p:txBody>
      </p:sp>
      <p:sp>
        <p:nvSpPr>
          <p:cNvPr id="13" name="">
            <a:extLst xmlns:a="http://schemas.openxmlformats.org/drawingml/2006/main">
              <a:ext uri="{FF2B5EF4-FFF2-40B4-BE49-F238E27FC236}">
                <a16:creationId xmlns:a16="http://schemas.microsoft.com/office/drawing/2014/main" id="{9770D1E9-1F5C-4C39-AA03-10C166D1EB90}"/>
              </a:ext>
            </a:extLst>
          </p:cNvPr>
          <p:cNvSpPr>
            <a:spLocks xmlns:a="http://schemas.openxmlformats.org/drawingml/2006/main" noGrp="1"/>
          </p:cNvSpPr>
          <p:nvPr/>
        </p:nvSpPr>
        <p:spPr>
          <a:xfrm xmlns:a="http://schemas.openxmlformats.org/drawingml/2006/main">
            <a:off x="2876550" y="2628900"/>
            <a:ext cx="1962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0000"/>
                </a:solidFill>
              </a:defRPr>
            </a:pPr>
            <a:r>
              <a:rPr sz="1800" b="1">
                <a:solidFill>
                  <a:srgbClr val="000000"/>
                </a:solidFill>
              </a:rPr>
              <a:t>Deduplicate</a:t>
            </a:r>
          </a:p>
        </p:txBody>
      </p:sp>
      <p:sp>
        <p:nvSpPr>
          <p:cNvPr id="14" name="">
            <a:extLst xmlns:a="http://schemas.openxmlformats.org/drawingml/2006/main">
              <a:ext uri="{FF2B5EF4-FFF2-40B4-BE49-F238E27FC236}">
                <a16:creationId xmlns:a16="http://schemas.microsoft.com/office/drawing/2014/main" id="{0C16D83C-7D91-4A9F-AFA4-CD479F5C8D1C}"/>
              </a:ext>
            </a:extLst>
          </p:cNvPr>
          <p:cNvSpPr>
            <a:spLocks xmlns:a="http://schemas.openxmlformats.org/drawingml/2006/main" noGrp="1"/>
          </p:cNvSpPr>
          <p:nvPr/>
        </p:nvSpPr>
        <p:spPr>
          <a:xfrm xmlns:a="http://schemas.openxmlformats.org/drawingml/2006/main">
            <a:off x="2876550" y="3257550"/>
            <a:ext cx="19621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E6470"/>
                </a:solidFill>
              </a:defRPr>
            </a:pPr>
            <a:r>
              <a:rPr sz="1350" b="0">
                <a:solidFill>
                  <a:srgbClr val="5E6470"/>
                </a:solidFill>
              </a:rPr>
              <a:t>Advisory transaction lock + SHA-256 request hash by idempotency key.</a:t>
            </a:r>
          </a:p>
        </p:txBody>
      </p:sp>
      <p:sp>
        <p:nvSpPr>
          <p:cNvPr id="15" name="">
            <a:extLst xmlns:a="http://schemas.openxmlformats.org/drawingml/2006/main">
              <a:ext uri="{FF2B5EF4-FFF2-40B4-BE49-F238E27FC236}">
                <a16:creationId xmlns:a16="http://schemas.microsoft.com/office/drawing/2014/main" id="{F8682A93-C6CD-4BFD-AD79-66975BCB6734}"/>
              </a:ext>
            </a:extLst>
          </p:cNvPr>
          <p:cNvSpPr>
            <a:spLocks xmlns:a="http://schemas.openxmlformats.org/drawingml/2006/main" noGrp="1"/>
          </p:cNvSpPr>
          <p:nvPr/>
        </p:nvSpPr>
        <p:spPr>
          <a:xfrm xmlns:a="http://schemas.openxmlformats.org/drawingml/2006/main">
            <a:off x="5143500" y="2095500"/>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3D8DFF"/>
                </a:solidFill>
              </a:defRPr>
            </a:pPr>
            <a:r>
              <a:rPr sz="2250" b="1">
                <a:solidFill>
                  <a:srgbClr val="3D8DFF"/>
                </a:solidFill>
              </a:rPr>
              <a:t>03</a:t>
            </a:r>
          </a:p>
        </p:txBody>
      </p:sp>
      <p:sp>
        <p:nvSpPr>
          <p:cNvPr id="16" name="">
            <a:extLst xmlns:a="http://schemas.openxmlformats.org/drawingml/2006/main">
              <a:ext uri="{FF2B5EF4-FFF2-40B4-BE49-F238E27FC236}">
                <a16:creationId xmlns:a16="http://schemas.microsoft.com/office/drawing/2014/main" id="{EF6ABC5B-2F92-4E9E-B9D8-F66A8D5B125F}"/>
              </a:ext>
            </a:extLst>
          </p:cNvPr>
          <p:cNvSpPr>
            <a:spLocks xmlns:a="http://schemas.openxmlformats.org/drawingml/2006/main" noGrp="1"/>
          </p:cNvSpPr>
          <p:nvPr/>
        </p:nvSpPr>
        <p:spPr>
          <a:xfrm xmlns:a="http://schemas.openxmlformats.org/drawingml/2006/main">
            <a:off x="5143500" y="2628900"/>
            <a:ext cx="1962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0000"/>
                </a:solidFill>
              </a:defRPr>
            </a:pPr>
            <a:r>
              <a:rPr sz="1800" b="1">
                <a:solidFill>
                  <a:srgbClr val="000000"/>
                </a:solidFill>
              </a:rPr>
              <a:t>Allocate</a:t>
            </a:r>
          </a:p>
        </p:txBody>
      </p:sp>
      <p:sp>
        <p:nvSpPr>
          <p:cNvPr id="17" name="">
            <a:extLst xmlns:a="http://schemas.openxmlformats.org/drawingml/2006/main">
              <a:ext uri="{FF2B5EF4-FFF2-40B4-BE49-F238E27FC236}">
                <a16:creationId xmlns:a16="http://schemas.microsoft.com/office/drawing/2014/main" id="{EBF48BA9-692D-401C-B13D-DCF11F655ABA}"/>
              </a:ext>
            </a:extLst>
          </p:cNvPr>
          <p:cNvSpPr>
            <a:spLocks xmlns:a="http://schemas.openxmlformats.org/drawingml/2006/main" noGrp="1"/>
          </p:cNvSpPr>
          <p:nvPr/>
        </p:nvSpPr>
        <p:spPr>
          <a:xfrm xmlns:a="http://schemas.openxmlformats.org/drawingml/2006/main">
            <a:off x="5143500" y="3257550"/>
            <a:ext cx="19621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E6470"/>
                </a:solidFill>
              </a:defRPr>
            </a:pPr>
            <a:r>
              <a:rPr sz="1350" b="0">
                <a:solidFill>
                  <a:srgbClr val="5E6470"/>
                </a:solidFill>
              </a:rPr>
              <a:t>Lock technician first, then bay with FOR UPDATE SKIP LOCKED.</a:t>
            </a:r>
          </a:p>
        </p:txBody>
      </p:sp>
      <p:sp>
        <p:nvSpPr>
          <p:cNvPr id="18" name="">
            <a:extLst xmlns:a="http://schemas.openxmlformats.org/drawingml/2006/main">
              <a:ext uri="{FF2B5EF4-FFF2-40B4-BE49-F238E27FC236}">
                <a16:creationId xmlns:a16="http://schemas.microsoft.com/office/drawing/2014/main" id="{A83D348A-80AF-407B-95E5-B35F9F49BC0E}"/>
              </a:ext>
            </a:extLst>
          </p:cNvPr>
          <p:cNvSpPr>
            <a:spLocks xmlns:a="http://schemas.openxmlformats.org/drawingml/2006/main" noGrp="1"/>
          </p:cNvSpPr>
          <p:nvPr/>
        </p:nvSpPr>
        <p:spPr>
          <a:xfrm xmlns:a="http://schemas.openxmlformats.org/drawingml/2006/main">
            <a:off x="7410450" y="2095500"/>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3D8DFF"/>
                </a:solidFill>
              </a:defRPr>
            </a:pPr>
            <a:r>
              <a:rPr sz="2250" b="1">
                <a:solidFill>
                  <a:srgbClr val="3D8DFF"/>
                </a:solidFill>
              </a:rPr>
              <a:t>04</a:t>
            </a:r>
          </a:p>
        </p:txBody>
      </p:sp>
      <p:sp>
        <p:nvSpPr>
          <p:cNvPr id="19" name="">
            <a:extLst xmlns:a="http://schemas.openxmlformats.org/drawingml/2006/main">
              <a:ext uri="{FF2B5EF4-FFF2-40B4-BE49-F238E27FC236}">
                <a16:creationId xmlns:a16="http://schemas.microsoft.com/office/drawing/2014/main" id="{649FB607-0171-4C68-A31A-C81396B31E39}"/>
              </a:ext>
            </a:extLst>
          </p:cNvPr>
          <p:cNvSpPr>
            <a:spLocks xmlns:a="http://schemas.openxmlformats.org/drawingml/2006/main" noGrp="1"/>
          </p:cNvSpPr>
          <p:nvPr/>
        </p:nvSpPr>
        <p:spPr>
          <a:xfrm xmlns:a="http://schemas.openxmlformats.org/drawingml/2006/main">
            <a:off x="7410450" y="2628900"/>
            <a:ext cx="1962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0000"/>
                </a:solidFill>
              </a:defRPr>
            </a:pPr>
            <a:r>
              <a:rPr sz="1800" b="1">
                <a:solidFill>
                  <a:srgbClr val="000000"/>
                </a:solidFill>
              </a:rPr>
              <a:t>Enforce</a:t>
            </a:r>
          </a:p>
        </p:txBody>
      </p:sp>
      <p:sp>
        <p:nvSpPr>
          <p:cNvPr id="20" name="">
            <a:extLst xmlns:a="http://schemas.openxmlformats.org/drawingml/2006/main">
              <a:ext uri="{FF2B5EF4-FFF2-40B4-BE49-F238E27FC236}">
                <a16:creationId xmlns:a16="http://schemas.microsoft.com/office/drawing/2014/main" id="{EF17BBD5-1F34-4814-B854-5F95CC8E9884}"/>
              </a:ext>
            </a:extLst>
          </p:cNvPr>
          <p:cNvSpPr>
            <a:spLocks xmlns:a="http://schemas.openxmlformats.org/drawingml/2006/main" noGrp="1"/>
          </p:cNvSpPr>
          <p:nvPr/>
        </p:nvSpPr>
        <p:spPr>
          <a:xfrm xmlns:a="http://schemas.openxmlformats.org/drawingml/2006/main">
            <a:off x="7410450" y="3257550"/>
            <a:ext cx="19621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E6470"/>
                </a:solidFill>
              </a:defRPr>
            </a:pPr>
            <a:r>
              <a:rPr sz="1350" b="0">
                <a:solidFill>
                  <a:srgbClr val="5E6470"/>
                </a:solidFill>
              </a:rPr>
              <a:t>Two partial GiST exclusion constraints reject active overlaps.</a:t>
            </a:r>
          </a:p>
        </p:txBody>
      </p:sp>
      <p:sp>
        <p:nvSpPr>
          <p:cNvPr id="21" name="">
            <a:extLst xmlns:a="http://schemas.openxmlformats.org/drawingml/2006/main">
              <a:ext uri="{FF2B5EF4-FFF2-40B4-BE49-F238E27FC236}">
                <a16:creationId xmlns:a16="http://schemas.microsoft.com/office/drawing/2014/main" id="{9F0F35BA-0D1B-4224-9E01-E58AD49FDAF8}"/>
              </a:ext>
            </a:extLst>
          </p:cNvPr>
          <p:cNvSpPr>
            <a:spLocks xmlns:a="http://schemas.openxmlformats.org/drawingml/2006/main" noGrp="1"/>
          </p:cNvSpPr>
          <p:nvPr/>
        </p:nvSpPr>
        <p:spPr>
          <a:xfrm xmlns:a="http://schemas.openxmlformats.org/drawingml/2006/main">
            <a:off x="9677400" y="2095500"/>
            <a:ext cx="190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3D8DFF"/>
                </a:solidFill>
              </a:defRPr>
            </a:pPr>
            <a:r>
              <a:rPr sz="2250" b="1">
                <a:solidFill>
                  <a:srgbClr val="3D8DFF"/>
                </a:solidFill>
              </a:rPr>
              <a:t>05</a:t>
            </a:r>
          </a:p>
        </p:txBody>
      </p:sp>
      <p:sp>
        <p:nvSpPr>
          <p:cNvPr id="22" name="">
            <a:extLst xmlns:a="http://schemas.openxmlformats.org/drawingml/2006/main">
              <a:ext uri="{FF2B5EF4-FFF2-40B4-BE49-F238E27FC236}">
                <a16:creationId xmlns:a16="http://schemas.microsoft.com/office/drawing/2014/main" id="{6D513D41-DABE-4620-9293-58A2D212799C}"/>
              </a:ext>
            </a:extLst>
          </p:cNvPr>
          <p:cNvSpPr>
            <a:spLocks xmlns:a="http://schemas.openxmlformats.org/drawingml/2006/main" noGrp="1"/>
          </p:cNvSpPr>
          <p:nvPr/>
        </p:nvSpPr>
        <p:spPr>
          <a:xfrm xmlns:a="http://schemas.openxmlformats.org/drawingml/2006/main">
            <a:off x="9677400" y="2628900"/>
            <a:ext cx="190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0000"/>
                </a:solidFill>
              </a:defRPr>
            </a:pPr>
            <a:r>
              <a:rPr sz="1800" b="1">
                <a:solidFill>
                  <a:srgbClr val="000000"/>
                </a:solidFill>
              </a:rPr>
              <a:t>Commit</a:t>
            </a:r>
          </a:p>
        </p:txBody>
      </p:sp>
      <p:sp>
        <p:nvSpPr>
          <p:cNvPr id="23" name="">
            <a:extLst xmlns:a="http://schemas.openxmlformats.org/drawingml/2006/main">
              <a:ext uri="{FF2B5EF4-FFF2-40B4-BE49-F238E27FC236}">
                <a16:creationId xmlns:a16="http://schemas.microsoft.com/office/drawing/2014/main" id="{144E6A1A-4712-4669-AC31-25B52D90F3DB}"/>
              </a:ext>
            </a:extLst>
          </p:cNvPr>
          <p:cNvSpPr>
            <a:spLocks xmlns:a="http://schemas.openxmlformats.org/drawingml/2006/main" noGrp="1"/>
          </p:cNvSpPr>
          <p:nvPr/>
        </p:nvSpPr>
        <p:spPr>
          <a:xfrm xmlns:a="http://schemas.openxmlformats.org/drawingml/2006/main">
            <a:off x="9677400" y="3257550"/>
            <a:ext cx="1905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E6470"/>
                </a:solidFill>
              </a:defRPr>
            </a:pPr>
            <a:r>
              <a:rPr sz="1350" b="0">
                <a:solidFill>
                  <a:srgbClr val="5E6470"/>
                </a:solidFill>
              </a:rPr>
              <a:t>Return HTTP 201 only after the appointment is durable.</a:t>
            </a:r>
          </a:p>
        </p:txBody>
      </p:sp>
      <p:sp>
        <p:nvSpPr>
          <p:cNvPr id="24" name="">
            <a:extLst xmlns:a="http://schemas.openxmlformats.org/drawingml/2006/main">
              <a:ext uri="{FF2B5EF4-FFF2-40B4-BE49-F238E27FC236}">
                <a16:creationId xmlns:a16="http://schemas.microsoft.com/office/drawing/2014/main" id="{CE25E4DB-A088-4C98-B1FA-0F305151EBF6}"/>
              </a:ext>
            </a:extLst>
          </p:cNvPr>
          <p:cNvSpPr>
            <a:spLocks xmlns:a="http://schemas.openxmlformats.org/drawingml/2006/main" noGrp="1"/>
          </p:cNvSpPr>
          <p:nvPr/>
        </p:nvSpPr>
        <p:spPr>
          <a:xfrm xmlns:a="http://schemas.openxmlformats.org/drawingml/2006/main">
            <a:off x="609600" y="4991100"/>
            <a:ext cx="10972800" cy="91440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9EF9223-9D9A-4FBC-8C58-F357B0DC2B66}"/>
              </a:ext>
            </a:extLst>
          </p:cNvPr>
          <p:cNvSpPr>
            <a:spLocks xmlns:a="http://schemas.openxmlformats.org/drawingml/2006/main" noGrp="1"/>
          </p:cNvSpPr>
          <p:nvPr/>
        </p:nvSpPr>
        <p:spPr>
          <a:xfrm xmlns:a="http://schemas.openxmlformats.org/drawingml/2006/main">
            <a:off x="876300" y="5219700"/>
            <a:ext cx="10439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75" b="1">
                <a:solidFill>
                  <a:srgbClr val="FFFFFF"/>
                </a:solidFill>
              </a:defRPr>
            </a:pPr>
            <a:r>
              <a:rPr sz="2175" b="1">
                <a:solidFill>
                  <a:srgbClr val="FFFFFF"/>
                </a:solidFill>
              </a:rPr>
              <a:t>The database—not request timing—decides who wins a race.</a:t>
            </a:r>
          </a:p>
        </p:txBody>
      </p:sp>
    </p:spTree>
    <p:extLst>
      <p:ext uri="{BB962C8B-B14F-4D97-AF65-F5344CB8AC3E}">
        <p14:creationId xmlns:p14="http://schemas.microsoft.com/office/powerpoint/2010/main" val="187376443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71AA940E-7126-4E75-BF81-76ADC3A46AE8}"/>
              </a:ext>
            </a:extLst>
          </p:cNvPr>
          <p:cNvSpPr>
            <a:spLocks xmlns:a="http://schemas.openxmlformats.org/drawingml/2006/main" noGrp="1"/>
          </p:cNvSpPr>
          <p:nvPr/>
        </p:nvSpPr>
        <p:spPr>
          <a:xfrm xmlns:a="http://schemas.openxmlformats.org/drawingml/2006/main">
            <a:off x="609600" y="2857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UNIFIED SERVICE SCHEDULER</a:t>
            </a:r>
          </a:p>
        </p:txBody>
      </p:sp>
      <p:sp>
        <p:nvSpPr>
          <p:cNvPr id="2" name="">
            <a:extLst xmlns:a="http://schemas.openxmlformats.org/drawingml/2006/main">
              <a:ext uri="{FF2B5EF4-FFF2-40B4-BE49-F238E27FC236}">
                <a16:creationId xmlns:a16="http://schemas.microsoft.com/office/drawing/2014/main" id="{FE0C9772-AADE-4BEA-8CBD-4F832C5A34E9}"/>
              </a:ext>
            </a:extLst>
          </p:cNvPr>
          <p:cNvSpPr>
            <a:spLocks xmlns:a="http://schemas.openxmlformats.org/drawingml/2006/main" noGrp="1"/>
          </p:cNvSpPr>
          <p:nvPr/>
        </p:nvSpPr>
        <p:spPr>
          <a:xfrm xmlns:a="http://schemas.openxmlformats.org/drawingml/2006/main">
            <a:off x="609600" y="533400"/>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000000"/>
                </a:solidFill>
              </a:defRPr>
            </a:pPr>
            <a:r>
              <a:rPr sz="3000" b="1">
                <a:solidFill>
                  <a:srgbClr val="000000"/>
                </a:solidFill>
              </a:rPr>
              <a:t>PostgreSQL meets every hard constraint with fewer failure modes</a:t>
            </a:r>
          </a:p>
        </p:txBody>
      </p:sp>
      <p:sp>
        <p:nvSpPr>
          <p:cNvPr id="3" name="">
            <a:extLst xmlns:a="http://schemas.openxmlformats.org/drawingml/2006/main">
              <a:ext uri="{FF2B5EF4-FFF2-40B4-BE49-F238E27FC236}">
                <a16:creationId xmlns:a16="http://schemas.microsoft.com/office/drawing/2014/main" id="{B1B513D9-538B-4965-B44D-09CAFFA3DD8C}"/>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AC911F2F-CF07-4B2B-9939-EA17C0108BDD}"/>
              </a:ext>
            </a:extLst>
          </p:cNvPr>
          <p:cNvSpPr>
            <a:spLocks xmlns:a="http://schemas.openxmlformats.org/drawingml/2006/main" noGrp="1"/>
          </p:cNvSpPr>
          <p:nvPr/>
        </p:nvSpPr>
        <p:spPr>
          <a:xfrm xmlns:a="http://schemas.openxmlformats.org/drawingml/2006/main">
            <a:off x="11144250" y="64198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470"/>
                </a:solidFill>
              </a:defRPr>
            </a:pPr>
            <a:r>
              <a:rPr sz="975" b="0">
                <a:solidFill>
                  <a:srgbClr val="5E6470"/>
                </a:solidFill>
              </a:rPr>
              <a:t>05</a:t>
            </a:r>
          </a:p>
        </p:txBody>
      </p:sp>
      <p:sp>
        <p:nvSpPr>
          <p:cNvPr id="5" name="">
            <a:extLst xmlns:a="http://schemas.openxmlformats.org/drawingml/2006/main">
              <a:ext uri="{FF2B5EF4-FFF2-40B4-BE49-F238E27FC236}">
                <a16:creationId xmlns:a16="http://schemas.microsoft.com/office/drawing/2014/main" id="{A9551761-A62C-43B9-82B8-D0A5948196D3}"/>
              </a:ext>
            </a:extLst>
          </p:cNvPr>
          <p:cNvSpPr>
            <a:spLocks xmlns:a="http://schemas.openxmlformats.org/drawingml/2006/main" noGrp="1"/>
          </p:cNvSpPr>
          <p:nvPr/>
        </p:nvSpPr>
        <p:spPr>
          <a:xfrm xmlns:a="http://schemas.openxmlformats.org/drawingml/2006/main">
            <a:off x="609600" y="1581150"/>
            <a:ext cx="3143250" cy="45720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D6B9594-D8B0-4AC5-9BCF-25487F2C7817}"/>
              </a:ext>
            </a:extLst>
          </p:cNvPr>
          <p:cNvSpPr>
            <a:spLocks xmlns:a="http://schemas.openxmlformats.org/drawingml/2006/main" noGrp="1"/>
          </p:cNvSpPr>
          <p:nvPr/>
        </p:nvSpPr>
        <p:spPr>
          <a:xfrm xmlns:a="http://schemas.openxmlformats.org/drawingml/2006/main">
            <a:off x="723900" y="169545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FFFFFF"/>
                </a:solidFill>
              </a:defRPr>
            </a:pPr>
            <a:r>
              <a:rPr sz="1350" b="1">
                <a:solidFill>
                  <a:srgbClr val="FFFFFF"/>
                </a:solidFill>
              </a:rPr>
              <a:t>Approach</a:t>
            </a:r>
          </a:p>
        </p:txBody>
      </p:sp>
      <p:sp>
        <p:nvSpPr>
          <p:cNvPr id="7" name="">
            <a:extLst xmlns:a="http://schemas.openxmlformats.org/drawingml/2006/main">
              <a:ext uri="{FF2B5EF4-FFF2-40B4-BE49-F238E27FC236}">
                <a16:creationId xmlns:a16="http://schemas.microsoft.com/office/drawing/2014/main" id="{2A186B22-1437-417C-8826-6B9717920E67}"/>
              </a:ext>
            </a:extLst>
          </p:cNvPr>
          <p:cNvSpPr>
            <a:spLocks xmlns:a="http://schemas.openxmlformats.org/drawingml/2006/main" noGrp="1"/>
          </p:cNvSpPr>
          <p:nvPr/>
        </p:nvSpPr>
        <p:spPr>
          <a:xfrm xmlns:a="http://schemas.openxmlformats.org/drawingml/2006/main">
            <a:off x="3752850" y="1581150"/>
            <a:ext cx="2438400" cy="45720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363FB52-4069-4FB6-9D56-DDD384C2ACAA}"/>
              </a:ext>
            </a:extLst>
          </p:cNvPr>
          <p:cNvSpPr>
            <a:spLocks xmlns:a="http://schemas.openxmlformats.org/drawingml/2006/main" noGrp="1"/>
          </p:cNvSpPr>
          <p:nvPr/>
        </p:nvSpPr>
        <p:spPr>
          <a:xfrm xmlns:a="http://schemas.openxmlformats.org/drawingml/2006/main">
            <a:off x="3867150" y="1695450"/>
            <a:ext cx="2209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FFFFFF"/>
                </a:solidFill>
              </a:defRPr>
            </a:pPr>
            <a:r>
              <a:rPr sz="1350" b="1">
                <a:solidFill>
                  <a:srgbClr val="FFFFFF"/>
                </a:solidFill>
              </a:rPr>
              <a:t>Concurrency correctness</a:t>
            </a:r>
          </a:p>
        </p:txBody>
      </p:sp>
      <p:sp>
        <p:nvSpPr>
          <p:cNvPr id="9" name="">
            <a:extLst xmlns:a="http://schemas.openxmlformats.org/drawingml/2006/main">
              <a:ext uri="{FF2B5EF4-FFF2-40B4-BE49-F238E27FC236}">
                <a16:creationId xmlns:a16="http://schemas.microsoft.com/office/drawing/2014/main" id="{F03EC7ED-F4E1-4B42-BCE3-F01810FF2870}"/>
              </a:ext>
            </a:extLst>
          </p:cNvPr>
          <p:cNvSpPr>
            <a:spLocks xmlns:a="http://schemas.openxmlformats.org/drawingml/2006/main" noGrp="1"/>
          </p:cNvSpPr>
          <p:nvPr/>
        </p:nvSpPr>
        <p:spPr>
          <a:xfrm xmlns:a="http://schemas.openxmlformats.org/drawingml/2006/main">
            <a:off x="6191250" y="1581150"/>
            <a:ext cx="2000250" cy="45720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3DC4BF4-5850-4B03-8859-8184428F014F}"/>
              </a:ext>
            </a:extLst>
          </p:cNvPr>
          <p:cNvSpPr>
            <a:spLocks xmlns:a="http://schemas.openxmlformats.org/drawingml/2006/main" noGrp="1"/>
          </p:cNvSpPr>
          <p:nvPr/>
        </p:nvSpPr>
        <p:spPr>
          <a:xfrm xmlns:a="http://schemas.openxmlformats.org/drawingml/2006/main">
            <a:off x="6305550" y="169545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FFFFFF"/>
                </a:solidFill>
              </a:defRPr>
            </a:pPr>
            <a:r>
              <a:rPr sz="1350" b="1">
                <a:solidFill>
                  <a:srgbClr val="FFFFFF"/>
                </a:solidFill>
              </a:rPr>
              <a:t>Ops cost</a:t>
            </a:r>
          </a:p>
        </p:txBody>
      </p:sp>
      <p:sp>
        <p:nvSpPr>
          <p:cNvPr id="11" name="">
            <a:extLst xmlns:a="http://schemas.openxmlformats.org/drawingml/2006/main">
              <a:ext uri="{FF2B5EF4-FFF2-40B4-BE49-F238E27FC236}">
                <a16:creationId xmlns:a16="http://schemas.microsoft.com/office/drawing/2014/main" id="{B4DED8EB-E582-48FE-AAFD-5B02106F383D}"/>
              </a:ext>
            </a:extLst>
          </p:cNvPr>
          <p:cNvSpPr>
            <a:spLocks xmlns:a="http://schemas.openxmlformats.org/drawingml/2006/main" noGrp="1"/>
          </p:cNvSpPr>
          <p:nvPr/>
        </p:nvSpPr>
        <p:spPr>
          <a:xfrm xmlns:a="http://schemas.openxmlformats.org/drawingml/2006/main">
            <a:off x="8191500" y="1581150"/>
            <a:ext cx="3390900" cy="45720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3114624-9C2E-48E0-BBA2-B9F155BEEF76}"/>
              </a:ext>
            </a:extLst>
          </p:cNvPr>
          <p:cNvSpPr>
            <a:spLocks xmlns:a="http://schemas.openxmlformats.org/drawingml/2006/main" noGrp="1"/>
          </p:cNvSpPr>
          <p:nvPr/>
        </p:nvSpPr>
        <p:spPr>
          <a:xfrm xmlns:a="http://schemas.openxmlformats.org/drawingml/2006/main">
            <a:off x="8305800" y="169545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FFFFFF"/>
                </a:solidFill>
              </a:defRPr>
            </a:pPr>
            <a:r>
              <a:rPr sz="1350" b="1">
                <a:solidFill>
                  <a:srgbClr val="FFFFFF"/>
                </a:solidFill>
              </a:rPr>
              <a:t>Decision</a:t>
            </a:r>
          </a:p>
        </p:txBody>
      </p:sp>
      <p:sp>
        <p:nvSpPr>
          <p:cNvPr id="13" name="">
            <a:extLst xmlns:a="http://schemas.openxmlformats.org/drawingml/2006/main">
              <a:ext uri="{FF2B5EF4-FFF2-40B4-BE49-F238E27FC236}">
                <a16:creationId xmlns:a16="http://schemas.microsoft.com/office/drawing/2014/main" id="{18CA494E-08D4-4CA7-9739-B8C795D4DE7C}"/>
              </a:ext>
            </a:extLst>
          </p:cNvPr>
          <p:cNvSpPr>
            <a:spLocks xmlns:a="http://schemas.openxmlformats.org/drawingml/2006/main" noGrp="1"/>
          </p:cNvSpPr>
          <p:nvPr/>
        </p:nvSpPr>
        <p:spPr>
          <a:xfrm xmlns:a="http://schemas.openxmlformats.org/drawingml/2006/main">
            <a:off x="609600" y="2038350"/>
            <a:ext cx="3143250" cy="685800"/>
          </a:xfrm>
          <a:prstGeom xmlns:a="http://schemas.openxmlformats.org/drawingml/2006/main" prst="rect">
            <a:avLst/>
          </a:prstGeom>
          <a:solidFill xmlns:a="http://schemas.openxmlformats.org/drawingml/2006/main">
            <a:srgbClr val="D0EDFA"/>
          </a:solidFill>
          <a:ln xmlns:a="http://schemas.openxmlformats.org/drawingml/2006/main" w="5715">
            <a:solidFill>
              <a:srgbClr val="B8BCC4"/>
            </a:solidFill>
            <a:prstDash val="solid"/>
          </a:ln>
        </p:spPr>
      </p:sp>
      <p:sp>
        <p:nvSpPr>
          <p:cNvPr id="14" name="">
            <a:extLst xmlns:a="http://schemas.openxmlformats.org/drawingml/2006/main">
              <a:ext uri="{FF2B5EF4-FFF2-40B4-BE49-F238E27FC236}">
                <a16:creationId xmlns:a16="http://schemas.microsoft.com/office/drawing/2014/main" id="{1B397F75-E967-4241-97F1-14A20CC18F07}"/>
              </a:ext>
            </a:extLst>
          </p:cNvPr>
          <p:cNvSpPr>
            <a:spLocks xmlns:a="http://schemas.openxmlformats.org/drawingml/2006/main" noGrp="1"/>
          </p:cNvSpPr>
          <p:nvPr/>
        </p:nvSpPr>
        <p:spPr>
          <a:xfrm xmlns:a="http://schemas.openxmlformats.org/drawingml/2006/main">
            <a:off x="723900" y="2162175"/>
            <a:ext cx="2914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00000"/>
                </a:solidFill>
              </a:defRPr>
            </a:pPr>
            <a:r>
              <a:rPr sz="1350" b="1">
                <a:solidFill>
                  <a:srgbClr val="000000"/>
                </a:solidFill>
              </a:rPr>
              <a:t>PostgreSQL transaction + exclusion</a:t>
            </a:r>
          </a:p>
        </p:txBody>
      </p:sp>
      <p:sp>
        <p:nvSpPr>
          <p:cNvPr id="15" name="">
            <a:extLst xmlns:a="http://schemas.openxmlformats.org/drawingml/2006/main">
              <a:ext uri="{FF2B5EF4-FFF2-40B4-BE49-F238E27FC236}">
                <a16:creationId xmlns:a16="http://schemas.microsoft.com/office/drawing/2014/main" id="{DF58F626-A7D4-4BE6-A194-D494239A074C}"/>
              </a:ext>
            </a:extLst>
          </p:cNvPr>
          <p:cNvSpPr>
            <a:spLocks xmlns:a="http://schemas.openxmlformats.org/drawingml/2006/main" noGrp="1"/>
          </p:cNvSpPr>
          <p:nvPr/>
        </p:nvSpPr>
        <p:spPr>
          <a:xfrm xmlns:a="http://schemas.openxmlformats.org/drawingml/2006/main">
            <a:off x="3752850" y="2038350"/>
            <a:ext cx="2438400" cy="685800"/>
          </a:xfrm>
          <a:prstGeom xmlns:a="http://schemas.openxmlformats.org/drawingml/2006/main" prst="rect">
            <a:avLst/>
          </a:prstGeom>
          <a:solidFill xmlns:a="http://schemas.openxmlformats.org/drawingml/2006/main">
            <a:srgbClr val="D0EDFA"/>
          </a:solidFill>
          <a:ln xmlns:a="http://schemas.openxmlformats.org/drawingml/2006/main" w="5715">
            <a:solidFill>
              <a:srgbClr val="B8BCC4"/>
            </a:solidFill>
            <a:prstDash val="solid"/>
          </a:ln>
        </p:spPr>
      </p:sp>
      <p:sp>
        <p:nvSpPr>
          <p:cNvPr id="16" name="">
            <a:extLst xmlns:a="http://schemas.openxmlformats.org/drawingml/2006/main">
              <a:ext uri="{FF2B5EF4-FFF2-40B4-BE49-F238E27FC236}">
                <a16:creationId xmlns:a16="http://schemas.microsoft.com/office/drawing/2014/main" id="{4DDB0E9B-CC00-4455-96A5-05DAE7254ABD}"/>
              </a:ext>
            </a:extLst>
          </p:cNvPr>
          <p:cNvSpPr>
            <a:spLocks xmlns:a="http://schemas.openxmlformats.org/drawingml/2006/main" noGrp="1"/>
          </p:cNvSpPr>
          <p:nvPr/>
        </p:nvSpPr>
        <p:spPr>
          <a:xfrm xmlns:a="http://schemas.openxmlformats.org/drawingml/2006/main">
            <a:off x="3867150" y="2162175"/>
            <a:ext cx="2209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00000"/>
                </a:solidFill>
              </a:defRPr>
            </a:pPr>
            <a:r>
              <a:rPr sz="1350" b="1">
                <a:solidFill>
                  <a:srgbClr val="000000"/>
                </a:solidFill>
              </a:rPr>
              <a:t>Strong; DB-enforced</a:t>
            </a:r>
          </a:p>
        </p:txBody>
      </p:sp>
      <p:sp>
        <p:nvSpPr>
          <p:cNvPr id="17" name="">
            <a:extLst xmlns:a="http://schemas.openxmlformats.org/drawingml/2006/main">
              <a:ext uri="{FF2B5EF4-FFF2-40B4-BE49-F238E27FC236}">
                <a16:creationId xmlns:a16="http://schemas.microsoft.com/office/drawing/2014/main" id="{9818BD7F-1494-418F-88F1-076FFA500163}"/>
              </a:ext>
            </a:extLst>
          </p:cNvPr>
          <p:cNvSpPr>
            <a:spLocks xmlns:a="http://schemas.openxmlformats.org/drawingml/2006/main" noGrp="1"/>
          </p:cNvSpPr>
          <p:nvPr/>
        </p:nvSpPr>
        <p:spPr>
          <a:xfrm xmlns:a="http://schemas.openxmlformats.org/drawingml/2006/main">
            <a:off x="6191250" y="2038350"/>
            <a:ext cx="2000250" cy="685800"/>
          </a:xfrm>
          <a:prstGeom xmlns:a="http://schemas.openxmlformats.org/drawingml/2006/main" prst="rect">
            <a:avLst/>
          </a:prstGeom>
          <a:solidFill xmlns:a="http://schemas.openxmlformats.org/drawingml/2006/main">
            <a:srgbClr val="D0EDFA"/>
          </a:solidFill>
          <a:ln xmlns:a="http://schemas.openxmlformats.org/drawingml/2006/main" w="5715">
            <a:solidFill>
              <a:srgbClr val="B8BCC4"/>
            </a:solidFill>
            <a:prstDash val="solid"/>
          </a:ln>
        </p:spPr>
      </p:sp>
      <p:sp>
        <p:nvSpPr>
          <p:cNvPr id="18" name="">
            <a:extLst xmlns:a="http://schemas.openxmlformats.org/drawingml/2006/main">
              <a:ext uri="{FF2B5EF4-FFF2-40B4-BE49-F238E27FC236}">
                <a16:creationId xmlns:a16="http://schemas.microsoft.com/office/drawing/2014/main" id="{DC33953F-4653-437F-A549-3912B6D62BD2}"/>
              </a:ext>
            </a:extLst>
          </p:cNvPr>
          <p:cNvSpPr>
            <a:spLocks xmlns:a="http://schemas.openxmlformats.org/drawingml/2006/main" noGrp="1"/>
          </p:cNvSpPr>
          <p:nvPr/>
        </p:nvSpPr>
        <p:spPr>
          <a:xfrm xmlns:a="http://schemas.openxmlformats.org/drawingml/2006/main">
            <a:off x="6305550" y="2162175"/>
            <a:ext cx="1771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00000"/>
                </a:solidFill>
              </a:defRPr>
            </a:pPr>
            <a:r>
              <a:rPr sz="1350" b="1">
                <a:solidFill>
                  <a:srgbClr val="000000"/>
                </a:solidFill>
              </a:rPr>
              <a:t>Low–medium</a:t>
            </a:r>
          </a:p>
        </p:txBody>
      </p:sp>
      <p:sp>
        <p:nvSpPr>
          <p:cNvPr id="19" name="">
            <a:extLst xmlns:a="http://schemas.openxmlformats.org/drawingml/2006/main">
              <a:ext uri="{FF2B5EF4-FFF2-40B4-BE49-F238E27FC236}">
                <a16:creationId xmlns:a16="http://schemas.microsoft.com/office/drawing/2014/main" id="{EE98ADA8-5DDF-40A2-A01C-9C98EE8E9DE2}"/>
              </a:ext>
            </a:extLst>
          </p:cNvPr>
          <p:cNvSpPr>
            <a:spLocks xmlns:a="http://schemas.openxmlformats.org/drawingml/2006/main" noGrp="1"/>
          </p:cNvSpPr>
          <p:nvPr/>
        </p:nvSpPr>
        <p:spPr>
          <a:xfrm xmlns:a="http://schemas.openxmlformats.org/drawingml/2006/main">
            <a:off x="8191500" y="2038350"/>
            <a:ext cx="3390900" cy="685800"/>
          </a:xfrm>
          <a:prstGeom xmlns:a="http://schemas.openxmlformats.org/drawingml/2006/main" prst="rect">
            <a:avLst/>
          </a:prstGeom>
          <a:solidFill xmlns:a="http://schemas.openxmlformats.org/drawingml/2006/main">
            <a:srgbClr val="D0EDFA"/>
          </a:solidFill>
          <a:ln xmlns:a="http://schemas.openxmlformats.org/drawingml/2006/main" w="5715">
            <a:solidFill>
              <a:srgbClr val="B8BCC4"/>
            </a:solidFill>
            <a:prstDash val="solid"/>
          </a:ln>
        </p:spPr>
      </p:sp>
      <p:sp>
        <p:nvSpPr>
          <p:cNvPr id="20" name="">
            <a:extLst xmlns:a="http://schemas.openxmlformats.org/drawingml/2006/main">
              <a:ext uri="{FF2B5EF4-FFF2-40B4-BE49-F238E27FC236}">
                <a16:creationId xmlns:a16="http://schemas.microsoft.com/office/drawing/2014/main" id="{B7A7D37A-6099-4266-8644-D0387AEB29C6}"/>
              </a:ext>
            </a:extLst>
          </p:cNvPr>
          <p:cNvSpPr>
            <a:spLocks xmlns:a="http://schemas.openxmlformats.org/drawingml/2006/main" noGrp="1"/>
          </p:cNvSpPr>
          <p:nvPr/>
        </p:nvSpPr>
        <p:spPr>
          <a:xfrm xmlns:a="http://schemas.openxmlformats.org/drawingml/2006/main">
            <a:off x="8305800" y="2162175"/>
            <a:ext cx="3162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00000"/>
                </a:solidFill>
              </a:defRPr>
            </a:pPr>
            <a:r>
              <a:rPr sz="1350" b="1">
                <a:solidFill>
                  <a:srgbClr val="000000"/>
                </a:solidFill>
              </a:rPr>
              <a:t>CHOSEN — synchronous and simple</a:t>
            </a:r>
          </a:p>
        </p:txBody>
      </p:sp>
      <p:sp>
        <p:nvSpPr>
          <p:cNvPr id="21" name="">
            <a:extLst xmlns:a="http://schemas.openxmlformats.org/drawingml/2006/main">
              <a:ext uri="{FF2B5EF4-FFF2-40B4-BE49-F238E27FC236}">
                <a16:creationId xmlns:a16="http://schemas.microsoft.com/office/drawing/2014/main" id="{1E4C24E1-20E7-4F85-8F67-43A37E700AE6}"/>
              </a:ext>
            </a:extLst>
          </p:cNvPr>
          <p:cNvSpPr>
            <a:spLocks xmlns:a="http://schemas.openxmlformats.org/drawingml/2006/main" noGrp="1"/>
          </p:cNvSpPr>
          <p:nvPr/>
        </p:nvSpPr>
        <p:spPr>
          <a:xfrm xmlns:a="http://schemas.openxmlformats.org/drawingml/2006/main">
            <a:off x="609600" y="2724150"/>
            <a:ext cx="3143250" cy="68580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22" name="">
            <a:extLst xmlns:a="http://schemas.openxmlformats.org/drawingml/2006/main">
              <a:ext uri="{FF2B5EF4-FFF2-40B4-BE49-F238E27FC236}">
                <a16:creationId xmlns:a16="http://schemas.microsoft.com/office/drawing/2014/main" id="{7A3F2D36-486B-4DA2-A32E-1B66BB26B45F}"/>
              </a:ext>
            </a:extLst>
          </p:cNvPr>
          <p:cNvSpPr>
            <a:spLocks xmlns:a="http://schemas.openxmlformats.org/drawingml/2006/main" noGrp="1"/>
          </p:cNvSpPr>
          <p:nvPr/>
        </p:nvSpPr>
        <p:spPr>
          <a:xfrm xmlns:a="http://schemas.openxmlformats.org/drawingml/2006/main">
            <a:off x="723900" y="2847975"/>
            <a:ext cx="2914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00000"/>
                </a:solidFill>
              </a:defRPr>
            </a:pPr>
            <a:r>
              <a:rPr sz="1275" b="0">
                <a:solidFill>
                  <a:srgbClr val="000000"/>
                </a:solidFill>
              </a:rPr>
              <a:t>Application check, then insert</a:t>
            </a:r>
          </a:p>
        </p:txBody>
      </p:sp>
      <p:sp>
        <p:nvSpPr>
          <p:cNvPr id="23" name="">
            <a:extLst xmlns:a="http://schemas.openxmlformats.org/drawingml/2006/main">
              <a:ext uri="{FF2B5EF4-FFF2-40B4-BE49-F238E27FC236}">
                <a16:creationId xmlns:a16="http://schemas.microsoft.com/office/drawing/2014/main" id="{133AB58B-7297-45F8-AFB9-BA5A9BCF0D70}"/>
              </a:ext>
            </a:extLst>
          </p:cNvPr>
          <p:cNvSpPr>
            <a:spLocks xmlns:a="http://schemas.openxmlformats.org/drawingml/2006/main" noGrp="1"/>
          </p:cNvSpPr>
          <p:nvPr/>
        </p:nvSpPr>
        <p:spPr>
          <a:xfrm xmlns:a="http://schemas.openxmlformats.org/drawingml/2006/main">
            <a:off x="3752850" y="2724150"/>
            <a:ext cx="2438400" cy="68580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24" name="">
            <a:extLst xmlns:a="http://schemas.openxmlformats.org/drawingml/2006/main">
              <a:ext uri="{FF2B5EF4-FFF2-40B4-BE49-F238E27FC236}">
                <a16:creationId xmlns:a16="http://schemas.microsoft.com/office/drawing/2014/main" id="{324D02B5-6EDC-416A-A452-75285E2E28D4}"/>
              </a:ext>
            </a:extLst>
          </p:cNvPr>
          <p:cNvSpPr>
            <a:spLocks xmlns:a="http://schemas.openxmlformats.org/drawingml/2006/main" noGrp="1"/>
          </p:cNvSpPr>
          <p:nvPr/>
        </p:nvSpPr>
        <p:spPr>
          <a:xfrm xmlns:a="http://schemas.openxmlformats.org/drawingml/2006/main">
            <a:off x="3867150" y="2847975"/>
            <a:ext cx="2209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00000"/>
                </a:solidFill>
              </a:defRPr>
            </a:pPr>
            <a:r>
              <a:rPr sz="1275" b="0">
                <a:solidFill>
                  <a:srgbClr val="000000"/>
                </a:solidFill>
              </a:rPr>
              <a:t>Race-prone</a:t>
            </a:r>
          </a:p>
        </p:txBody>
      </p:sp>
      <p:sp>
        <p:nvSpPr>
          <p:cNvPr id="25" name="">
            <a:extLst xmlns:a="http://schemas.openxmlformats.org/drawingml/2006/main">
              <a:ext uri="{FF2B5EF4-FFF2-40B4-BE49-F238E27FC236}">
                <a16:creationId xmlns:a16="http://schemas.microsoft.com/office/drawing/2014/main" id="{90083AA2-5755-4ED6-A4CD-C5A0E351B130}"/>
              </a:ext>
            </a:extLst>
          </p:cNvPr>
          <p:cNvSpPr>
            <a:spLocks xmlns:a="http://schemas.openxmlformats.org/drawingml/2006/main" noGrp="1"/>
          </p:cNvSpPr>
          <p:nvPr/>
        </p:nvSpPr>
        <p:spPr>
          <a:xfrm xmlns:a="http://schemas.openxmlformats.org/drawingml/2006/main">
            <a:off x="6191250" y="2724150"/>
            <a:ext cx="2000250" cy="68580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26" name="">
            <a:extLst xmlns:a="http://schemas.openxmlformats.org/drawingml/2006/main">
              <a:ext uri="{FF2B5EF4-FFF2-40B4-BE49-F238E27FC236}">
                <a16:creationId xmlns:a16="http://schemas.microsoft.com/office/drawing/2014/main" id="{73941866-E355-47A4-BC39-3538206FA53B}"/>
              </a:ext>
            </a:extLst>
          </p:cNvPr>
          <p:cNvSpPr>
            <a:spLocks xmlns:a="http://schemas.openxmlformats.org/drawingml/2006/main" noGrp="1"/>
          </p:cNvSpPr>
          <p:nvPr/>
        </p:nvSpPr>
        <p:spPr>
          <a:xfrm xmlns:a="http://schemas.openxmlformats.org/drawingml/2006/main">
            <a:off x="6305550" y="2847975"/>
            <a:ext cx="1771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00000"/>
                </a:solidFill>
              </a:defRPr>
            </a:pPr>
            <a:r>
              <a:rPr sz="1275" b="0">
                <a:solidFill>
                  <a:srgbClr val="000000"/>
                </a:solidFill>
              </a:rPr>
              <a:t>Low</a:t>
            </a:r>
          </a:p>
        </p:txBody>
      </p:sp>
      <p:sp>
        <p:nvSpPr>
          <p:cNvPr id="27" name="">
            <a:extLst xmlns:a="http://schemas.openxmlformats.org/drawingml/2006/main">
              <a:ext uri="{FF2B5EF4-FFF2-40B4-BE49-F238E27FC236}">
                <a16:creationId xmlns:a16="http://schemas.microsoft.com/office/drawing/2014/main" id="{A3ECC1E0-14B7-4EA3-8468-AD65C050F455}"/>
              </a:ext>
            </a:extLst>
          </p:cNvPr>
          <p:cNvSpPr>
            <a:spLocks xmlns:a="http://schemas.openxmlformats.org/drawingml/2006/main" noGrp="1"/>
          </p:cNvSpPr>
          <p:nvPr/>
        </p:nvSpPr>
        <p:spPr>
          <a:xfrm xmlns:a="http://schemas.openxmlformats.org/drawingml/2006/main">
            <a:off x="8191500" y="2724150"/>
            <a:ext cx="3390900" cy="68580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28" name="">
            <a:extLst xmlns:a="http://schemas.openxmlformats.org/drawingml/2006/main">
              <a:ext uri="{FF2B5EF4-FFF2-40B4-BE49-F238E27FC236}">
                <a16:creationId xmlns:a16="http://schemas.microsoft.com/office/drawing/2014/main" id="{F1EFDC9B-7DE7-4352-94F8-2FF3D6506591}"/>
              </a:ext>
            </a:extLst>
          </p:cNvPr>
          <p:cNvSpPr>
            <a:spLocks xmlns:a="http://schemas.openxmlformats.org/drawingml/2006/main" noGrp="1"/>
          </p:cNvSpPr>
          <p:nvPr/>
        </p:nvSpPr>
        <p:spPr>
          <a:xfrm xmlns:a="http://schemas.openxmlformats.org/drawingml/2006/main">
            <a:off x="8305800" y="2847975"/>
            <a:ext cx="3162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00000"/>
                </a:solidFill>
              </a:defRPr>
            </a:pPr>
            <a:r>
              <a:rPr sz="1275" b="0">
                <a:solidFill>
                  <a:srgbClr val="000000"/>
                </a:solidFill>
              </a:rPr>
              <a:t>Reject — TOCTOU double-booking</a:t>
            </a:r>
          </a:p>
        </p:txBody>
      </p:sp>
      <p:sp>
        <p:nvSpPr>
          <p:cNvPr id="29" name="">
            <a:extLst xmlns:a="http://schemas.openxmlformats.org/drawingml/2006/main">
              <a:ext uri="{FF2B5EF4-FFF2-40B4-BE49-F238E27FC236}">
                <a16:creationId xmlns:a16="http://schemas.microsoft.com/office/drawing/2014/main" id="{C20D1C72-781C-46A8-A094-B14E6DB45163}"/>
              </a:ext>
            </a:extLst>
          </p:cNvPr>
          <p:cNvSpPr>
            <a:spLocks xmlns:a="http://schemas.openxmlformats.org/drawingml/2006/main" noGrp="1"/>
          </p:cNvSpPr>
          <p:nvPr/>
        </p:nvSpPr>
        <p:spPr>
          <a:xfrm xmlns:a="http://schemas.openxmlformats.org/drawingml/2006/main">
            <a:off x="609600" y="3409950"/>
            <a:ext cx="3143250" cy="685800"/>
          </a:xfrm>
          <a:prstGeom xmlns:a="http://schemas.openxmlformats.org/drawingml/2006/main" prst="rect">
            <a:avLst/>
          </a:prstGeom>
          <a:solidFill xmlns:a="http://schemas.openxmlformats.org/drawingml/2006/main">
            <a:srgbClr val="F7F7F7"/>
          </a:solidFill>
          <a:ln xmlns:a="http://schemas.openxmlformats.org/drawingml/2006/main" w="5715">
            <a:solidFill>
              <a:srgbClr val="B8BCC4"/>
            </a:solidFill>
            <a:prstDash val="solid"/>
          </a:ln>
        </p:spPr>
      </p:sp>
      <p:sp>
        <p:nvSpPr>
          <p:cNvPr id="30" name="">
            <a:extLst xmlns:a="http://schemas.openxmlformats.org/drawingml/2006/main">
              <a:ext uri="{FF2B5EF4-FFF2-40B4-BE49-F238E27FC236}">
                <a16:creationId xmlns:a16="http://schemas.microsoft.com/office/drawing/2014/main" id="{4A4BF67D-7EFB-4CDD-AD5D-C673659EA04A}"/>
              </a:ext>
            </a:extLst>
          </p:cNvPr>
          <p:cNvSpPr>
            <a:spLocks xmlns:a="http://schemas.openxmlformats.org/drawingml/2006/main" noGrp="1"/>
          </p:cNvSpPr>
          <p:nvPr/>
        </p:nvSpPr>
        <p:spPr>
          <a:xfrm xmlns:a="http://schemas.openxmlformats.org/drawingml/2006/main">
            <a:off x="723900" y="3533775"/>
            <a:ext cx="2914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00000"/>
                </a:solidFill>
              </a:defRPr>
            </a:pPr>
            <a:r>
              <a:rPr sz="1275" b="0">
                <a:solidFill>
                  <a:srgbClr val="000000"/>
                </a:solidFill>
              </a:rPr>
              <a:t>Redis distributed lock</a:t>
            </a:r>
          </a:p>
        </p:txBody>
      </p:sp>
      <p:sp>
        <p:nvSpPr>
          <p:cNvPr id="31" name="">
            <a:extLst xmlns:a="http://schemas.openxmlformats.org/drawingml/2006/main">
              <a:ext uri="{FF2B5EF4-FFF2-40B4-BE49-F238E27FC236}">
                <a16:creationId xmlns:a16="http://schemas.microsoft.com/office/drawing/2014/main" id="{2123B51F-AF46-44FB-98CC-00DED37A021D}"/>
              </a:ext>
            </a:extLst>
          </p:cNvPr>
          <p:cNvSpPr>
            <a:spLocks xmlns:a="http://schemas.openxmlformats.org/drawingml/2006/main" noGrp="1"/>
          </p:cNvSpPr>
          <p:nvPr/>
        </p:nvSpPr>
        <p:spPr>
          <a:xfrm xmlns:a="http://schemas.openxmlformats.org/drawingml/2006/main">
            <a:off x="3752850" y="3409950"/>
            <a:ext cx="2438400" cy="685800"/>
          </a:xfrm>
          <a:prstGeom xmlns:a="http://schemas.openxmlformats.org/drawingml/2006/main" prst="rect">
            <a:avLst/>
          </a:prstGeom>
          <a:solidFill xmlns:a="http://schemas.openxmlformats.org/drawingml/2006/main">
            <a:srgbClr val="F7F7F7"/>
          </a:solidFill>
          <a:ln xmlns:a="http://schemas.openxmlformats.org/drawingml/2006/main" w="5715">
            <a:solidFill>
              <a:srgbClr val="B8BCC4"/>
            </a:solidFill>
            <a:prstDash val="solid"/>
          </a:ln>
        </p:spPr>
      </p:sp>
      <p:sp>
        <p:nvSpPr>
          <p:cNvPr id="32" name="">
            <a:extLst xmlns:a="http://schemas.openxmlformats.org/drawingml/2006/main">
              <a:ext uri="{FF2B5EF4-FFF2-40B4-BE49-F238E27FC236}">
                <a16:creationId xmlns:a16="http://schemas.microsoft.com/office/drawing/2014/main" id="{75D249F9-754A-40FB-A2EE-97482D01AA2A}"/>
              </a:ext>
            </a:extLst>
          </p:cNvPr>
          <p:cNvSpPr>
            <a:spLocks xmlns:a="http://schemas.openxmlformats.org/drawingml/2006/main" noGrp="1"/>
          </p:cNvSpPr>
          <p:nvPr/>
        </p:nvSpPr>
        <p:spPr>
          <a:xfrm xmlns:a="http://schemas.openxmlformats.org/drawingml/2006/main">
            <a:off x="3867150" y="3533775"/>
            <a:ext cx="2209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00000"/>
                </a:solidFill>
              </a:defRPr>
            </a:pPr>
            <a:r>
              <a:rPr sz="1275" b="0">
                <a:solidFill>
                  <a:srgbClr val="000000"/>
                </a:solidFill>
              </a:rPr>
              <a:t>Still needs a DB guard</a:t>
            </a:r>
          </a:p>
        </p:txBody>
      </p:sp>
      <p:sp>
        <p:nvSpPr>
          <p:cNvPr id="33" name="">
            <a:extLst xmlns:a="http://schemas.openxmlformats.org/drawingml/2006/main">
              <a:ext uri="{FF2B5EF4-FFF2-40B4-BE49-F238E27FC236}">
                <a16:creationId xmlns:a16="http://schemas.microsoft.com/office/drawing/2014/main" id="{052ED163-F640-4758-91E9-14EA1DD725D9}"/>
              </a:ext>
            </a:extLst>
          </p:cNvPr>
          <p:cNvSpPr>
            <a:spLocks xmlns:a="http://schemas.openxmlformats.org/drawingml/2006/main" noGrp="1"/>
          </p:cNvSpPr>
          <p:nvPr/>
        </p:nvSpPr>
        <p:spPr>
          <a:xfrm xmlns:a="http://schemas.openxmlformats.org/drawingml/2006/main">
            <a:off x="6191250" y="3409950"/>
            <a:ext cx="2000250" cy="685800"/>
          </a:xfrm>
          <a:prstGeom xmlns:a="http://schemas.openxmlformats.org/drawingml/2006/main" prst="rect">
            <a:avLst/>
          </a:prstGeom>
          <a:solidFill xmlns:a="http://schemas.openxmlformats.org/drawingml/2006/main">
            <a:srgbClr val="F7F7F7"/>
          </a:solidFill>
          <a:ln xmlns:a="http://schemas.openxmlformats.org/drawingml/2006/main" w="5715">
            <a:solidFill>
              <a:srgbClr val="B8BCC4"/>
            </a:solidFill>
            <a:prstDash val="solid"/>
          </a:ln>
        </p:spPr>
      </p:sp>
      <p:sp>
        <p:nvSpPr>
          <p:cNvPr id="34" name="">
            <a:extLst xmlns:a="http://schemas.openxmlformats.org/drawingml/2006/main">
              <a:ext uri="{FF2B5EF4-FFF2-40B4-BE49-F238E27FC236}">
                <a16:creationId xmlns:a16="http://schemas.microsoft.com/office/drawing/2014/main" id="{865F0557-414F-47C4-8710-9A3D12B64BE4}"/>
              </a:ext>
            </a:extLst>
          </p:cNvPr>
          <p:cNvSpPr>
            <a:spLocks xmlns:a="http://schemas.openxmlformats.org/drawingml/2006/main" noGrp="1"/>
          </p:cNvSpPr>
          <p:nvPr/>
        </p:nvSpPr>
        <p:spPr>
          <a:xfrm xmlns:a="http://schemas.openxmlformats.org/drawingml/2006/main">
            <a:off x="6305550" y="3533775"/>
            <a:ext cx="1771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00000"/>
                </a:solidFill>
              </a:defRPr>
            </a:pPr>
            <a:r>
              <a:rPr sz="1275" b="0">
                <a:solidFill>
                  <a:srgbClr val="000000"/>
                </a:solidFill>
              </a:rPr>
              <a:t>Medium–high</a:t>
            </a:r>
          </a:p>
        </p:txBody>
      </p:sp>
      <p:sp>
        <p:nvSpPr>
          <p:cNvPr id="35" name="">
            <a:extLst xmlns:a="http://schemas.openxmlformats.org/drawingml/2006/main">
              <a:ext uri="{FF2B5EF4-FFF2-40B4-BE49-F238E27FC236}">
                <a16:creationId xmlns:a16="http://schemas.microsoft.com/office/drawing/2014/main" id="{1CA8CBE5-CD11-4E85-8A5F-2CCC4F160558}"/>
              </a:ext>
            </a:extLst>
          </p:cNvPr>
          <p:cNvSpPr>
            <a:spLocks xmlns:a="http://schemas.openxmlformats.org/drawingml/2006/main" noGrp="1"/>
          </p:cNvSpPr>
          <p:nvPr/>
        </p:nvSpPr>
        <p:spPr>
          <a:xfrm xmlns:a="http://schemas.openxmlformats.org/drawingml/2006/main">
            <a:off x="8191500" y="3409950"/>
            <a:ext cx="3390900" cy="685800"/>
          </a:xfrm>
          <a:prstGeom xmlns:a="http://schemas.openxmlformats.org/drawingml/2006/main" prst="rect">
            <a:avLst/>
          </a:prstGeom>
          <a:solidFill xmlns:a="http://schemas.openxmlformats.org/drawingml/2006/main">
            <a:srgbClr val="F7F7F7"/>
          </a:solidFill>
          <a:ln xmlns:a="http://schemas.openxmlformats.org/drawingml/2006/main" w="5715">
            <a:solidFill>
              <a:srgbClr val="B8BCC4"/>
            </a:solidFill>
            <a:prstDash val="solid"/>
          </a:ln>
        </p:spPr>
      </p:sp>
      <p:sp>
        <p:nvSpPr>
          <p:cNvPr id="36" name="">
            <a:extLst xmlns:a="http://schemas.openxmlformats.org/drawingml/2006/main">
              <a:ext uri="{FF2B5EF4-FFF2-40B4-BE49-F238E27FC236}">
                <a16:creationId xmlns:a16="http://schemas.microsoft.com/office/drawing/2014/main" id="{29F29F85-A0C5-4B6B-B0A0-5796BE742385}"/>
              </a:ext>
            </a:extLst>
          </p:cNvPr>
          <p:cNvSpPr>
            <a:spLocks xmlns:a="http://schemas.openxmlformats.org/drawingml/2006/main" noGrp="1"/>
          </p:cNvSpPr>
          <p:nvPr/>
        </p:nvSpPr>
        <p:spPr>
          <a:xfrm xmlns:a="http://schemas.openxmlformats.org/drawingml/2006/main">
            <a:off x="8305800" y="3533775"/>
            <a:ext cx="3162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00000"/>
                </a:solidFill>
              </a:defRPr>
            </a:pPr>
            <a:r>
              <a:rPr sz="1275" b="0">
                <a:solidFill>
                  <a:srgbClr val="000000"/>
                </a:solidFill>
              </a:rPr>
              <a:t>Reject — second consistency system</a:t>
            </a:r>
          </a:p>
        </p:txBody>
      </p:sp>
      <p:sp>
        <p:nvSpPr>
          <p:cNvPr id="37" name="">
            <a:extLst xmlns:a="http://schemas.openxmlformats.org/drawingml/2006/main">
              <a:ext uri="{FF2B5EF4-FFF2-40B4-BE49-F238E27FC236}">
                <a16:creationId xmlns:a16="http://schemas.microsoft.com/office/drawing/2014/main" id="{257B9542-D297-4DA7-ABE7-045C7F5B3065}"/>
              </a:ext>
            </a:extLst>
          </p:cNvPr>
          <p:cNvSpPr>
            <a:spLocks xmlns:a="http://schemas.openxmlformats.org/drawingml/2006/main" noGrp="1"/>
          </p:cNvSpPr>
          <p:nvPr/>
        </p:nvSpPr>
        <p:spPr>
          <a:xfrm xmlns:a="http://schemas.openxmlformats.org/drawingml/2006/main">
            <a:off x="609600" y="4095750"/>
            <a:ext cx="3143250" cy="68580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38" name="">
            <a:extLst xmlns:a="http://schemas.openxmlformats.org/drawingml/2006/main">
              <a:ext uri="{FF2B5EF4-FFF2-40B4-BE49-F238E27FC236}">
                <a16:creationId xmlns:a16="http://schemas.microsoft.com/office/drawing/2014/main" id="{7BFDCB91-F5F3-4B69-9764-4D5F0CDDC730}"/>
              </a:ext>
            </a:extLst>
          </p:cNvPr>
          <p:cNvSpPr>
            <a:spLocks xmlns:a="http://schemas.openxmlformats.org/drawingml/2006/main" noGrp="1"/>
          </p:cNvSpPr>
          <p:nvPr/>
        </p:nvSpPr>
        <p:spPr>
          <a:xfrm xmlns:a="http://schemas.openxmlformats.org/drawingml/2006/main">
            <a:off x="723900" y="4219575"/>
            <a:ext cx="2914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00000"/>
                </a:solidFill>
              </a:defRPr>
            </a:pPr>
            <a:r>
              <a:rPr sz="1275" b="0">
                <a:solidFill>
                  <a:srgbClr val="000000"/>
                </a:solidFill>
              </a:rPr>
              <a:t>Queue-serialized booking</a:t>
            </a:r>
          </a:p>
        </p:txBody>
      </p:sp>
      <p:sp>
        <p:nvSpPr>
          <p:cNvPr id="39" name="">
            <a:extLst xmlns:a="http://schemas.openxmlformats.org/drawingml/2006/main">
              <a:ext uri="{FF2B5EF4-FFF2-40B4-BE49-F238E27FC236}">
                <a16:creationId xmlns:a16="http://schemas.microsoft.com/office/drawing/2014/main" id="{593F191D-9340-4208-A880-7241FA7A7661}"/>
              </a:ext>
            </a:extLst>
          </p:cNvPr>
          <p:cNvSpPr>
            <a:spLocks xmlns:a="http://schemas.openxmlformats.org/drawingml/2006/main" noGrp="1"/>
          </p:cNvSpPr>
          <p:nvPr/>
        </p:nvSpPr>
        <p:spPr>
          <a:xfrm xmlns:a="http://schemas.openxmlformats.org/drawingml/2006/main">
            <a:off x="3752850" y="4095750"/>
            <a:ext cx="2438400" cy="68580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40" name="">
            <a:extLst xmlns:a="http://schemas.openxmlformats.org/drawingml/2006/main">
              <a:ext uri="{FF2B5EF4-FFF2-40B4-BE49-F238E27FC236}">
                <a16:creationId xmlns:a16="http://schemas.microsoft.com/office/drawing/2014/main" id="{AACA8384-1118-42CC-99F4-B6F014185F89}"/>
              </a:ext>
            </a:extLst>
          </p:cNvPr>
          <p:cNvSpPr>
            <a:spLocks xmlns:a="http://schemas.openxmlformats.org/drawingml/2006/main" noGrp="1"/>
          </p:cNvSpPr>
          <p:nvPr/>
        </p:nvSpPr>
        <p:spPr>
          <a:xfrm xmlns:a="http://schemas.openxmlformats.org/drawingml/2006/main">
            <a:off x="3867150" y="4219575"/>
            <a:ext cx="2209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00000"/>
                </a:solidFill>
              </a:defRPr>
            </a:pPr>
            <a:r>
              <a:rPr sz="1275" b="0">
                <a:solidFill>
                  <a:srgbClr val="000000"/>
                </a:solidFill>
              </a:rPr>
              <a:t>Strong if partitioned</a:t>
            </a:r>
          </a:p>
        </p:txBody>
      </p:sp>
      <p:sp>
        <p:nvSpPr>
          <p:cNvPr id="41" name="">
            <a:extLst xmlns:a="http://schemas.openxmlformats.org/drawingml/2006/main">
              <a:ext uri="{FF2B5EF4-FFF2-40B4-BE49-F238E27FC236}">
                <a16:creationId xmlns:a16="http://schemas.microsoft.com/office/drawing/2014/main" id="{324A23B2-7CCA-4DDD-B6D3-8CDEBAD173F3}"/>
              </a:ext>
            </a:extLst>
          </p:cNvPr>
          <p:cNvSpPr>
            <a:spLocks xmlns:a="http://schemas.openxmlformats.org/drawingml/2006/main" noGrp="1"/>
          </p:cNvSpPr>
          <p:nvPr/>
        </p:nvSpPr>
        <p:spPr>
          <a:xfrm xmlns:a="http://schemas.openxmlformats.org/drawingml/2006/main">
            <a:off x="6191250" y="4095750"/>
            <a:ext cx="2000250" cy="68580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42" name="">
            <a:extLst xmlns:a="http://schemas.openxmlformats.org/drawingml/2006/main">
              <a:ext uri="{FF2B5EF4-FFF2-40B4-BE49-F238E27FC236}">
                <a16:creationId xmlns:a16="http://schemas.microsoft.com/office/drawing/2014/main" id="{3CEEE169-AD67-4738-BFE5-F8B84FA6CD37}"/>
              </a:ext>
            </a:extLst>
          </p:cNvPr>
          <p:cNvSpPr>
            <a:spLocks xmlns:a="http://schemas.openxmlformats.org/drawingml/2006/main" noGrp="1"/>
          </p:cNvSpPr>
          <p:nvPr/>
        </p:nvSpPr>
        <p:spPr>
          <a:xfrm xmlns:a="http://schemas.openxmlformats.org/drawingml/2006/main">
            <a:off x="6305550" y="4219575"/>
            <a:ext cx="1771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00000"/>
                </a:solidFill>
              </a:defRPr>
            </a:pPr>
            <a:r>
              <a:rPr sz="1275" b="0">
                <a:solidFill>
                  <a:srgbClr val="000000"/>
                </a:solidFill>
              </a:rPr>
              <a:t>High</a:t>
            </a:r>
          </a:p>
        </p:txBody>
      </p:sp>
      <p:sp>
        <p:nvSpPr>
          <p:cNvPr id="43" name="">
            <a:extLst xmlns:a="http://schemas.openxmlformats.org/drawingml/2006/main">
              <a:ext uri="{FF2B5EF4-FFF2-40B4-BE49-F238E27FC236}">
                <a16:creationId xmlns:a16="http://schemas.microsoft.com/office/drawing/2014/main" id="{498E4444-59C4-4143-BD10-AAB3B033A28D}"/>
              </a:ext>
            </a:extLst>
          </p:cNvPr>
          <p:cNvSpPr>
            <a:spLocks xmlns:a="http://schemas.openxmlformats.org/drawingml/2006/main" noGrp="1"/>
          </p:cNvSpPr>
          <p:nvPr/>
        </p:nvSpPr>
        <p:spPr>
          <a:xfrm xmlns:a="http://schemas.openxmlformats.org/drawingml/2006/main">
            <a:off x="8191500" y="4095750"/>
            <a:ext cx="3390900" cy="68580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44" name="">
            <a:extLst xmlns:a="http://schemas.openxmlformats.org/drawingml/2006/main">
              <a:ext uri="{FF2B5EF4-FFF2-40B4-BE49-F238E27FC236}">
                <a16:creationId xmlns:a16="http://schemas.microsoft.com/office/drawing/2014/main" id="{87104611-39A9-4671-858F-5A1E789A2D25}"/>
              </a:ext>
            </a:extLst>
          </p:cNvPr>
          <p:cNvSpPr>
            <a:spLocks xmlns:a="http://schemas.openxmlformats.org/drawingml/2006/main" noGrp="1"/>
          </p:cNvSpPr>
          <p:nvPr/>
        </p:nvSpPr>
        <p:spPr>
          <a:xfrm xmlns:a="http://schemas.openxmlformats.org/drawingml/2006/main">
            <a:off x="8305800" y="4219575"/>
            <a:ext cx="3162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00000"/>
                </a:solidFill>
              </a:defRPr>
            </a:pPr>
            <a:r>
              <a:rPr sz="1275" b="0">
                <a:solidFill>
                  <a:srgbClr val="000000"/>
                </a:solidFill>
              </a:rPr>
              <a:t>Reject — weak synchronous UX</a:t>
            </a:r>
          </a:p>
        </p:txBody>
      </p:sp>
      <p:sp>
        <p:nvSpPr>
          <p:cNvPr id="45" name="">
            <a:extLst xmlns:a="http://schemas.openxmlformats.org/drawingml/2006/main">
              <a:ext uri="{FF2B5EF4-FFF2-40B4-BE49-F238E27FC236}">
                <a16:creationId xmlns:a16="http://schemas.microsoft.com/office/drawing/2014/main" id="{EEC609F2-B7E4-4963-89FA-4BAF45ABCFC6}"/>
              </a:ext>
            </a:extLst>
          </p:cNvPr>
          <p:cNvSpPr>
            <a:spLocks xmlns:a="http://schemas.openxmlformats.org/drawingml/2006/main" noGrp="1"/>
          </p:cNvSpPr>
          <p:nvPr/>
        </p:nvSpPr>
        <p:spPr>
          <a:xfrm xmlns:a="http://schemas.openxmlformats.org/drawingml/2006/main">
            <a:off x="609600" y="4781550"/>
            <a:ext cx="3143250" cy="685800"/>
          </a:xfrm>
          <a:prstGeom xmlns:a="http://schemas.openxmlformats.org/drawingml/2006/main" prst="rect">
            <a:avLst/>
          </a:prstGeom>
          <a:solidFill xmlns:a="http://schemas.openxmlformats.org/drawingml/2006/main">
            <a:srgbClr val="F7F7F7"/>
          </a:solidFill>
          <a:ln xmlns:a="http://schemas.openxmlformats.org/drawingml/2006/main" w="5715">
            <a:solidFill>
              <a:srgbClr val="B8BCC4"/>
            </a:solidFill>
            <a:prstDash val="solid"/>
          </a:ln>
        </p:spPr>
      </p:sp>
      <p:sp>
        <p:nvSpPr>
          <p:cNvPr id="46" name="">
            <a:extLst xmlns:a="http://schemas.openxmlformats.org/drawingml/2006/main">
              <a:ext uri="{FF2B5EF4-FFF2-40B4-BE49-F238E27FC236}">
                <a16:creationId xmlns:a16="http://schemas.microsoft.com/office/drawing/2014/main" id="{C18E33EC-EE69-4D96-9D4E-5EC6434A709E}"/>
              </a:ext>
            </a:extLst>
          </p:cNvPr>
          <p:cNvSpPr>
            <a:spLocks xmlns:a="http://schemas.openxmlformats.org/drawingml/2006/main" noGrp="1"/>
          </p:cNvSpPr>
          <p:nvPr/>
        </p:nvSpPr>
        <p:spPr>
          <a:xfrm xmlns:a="http://schemas.openxmlformats.org/drawingml/2006/main">
            <a:off x="723900" y="4905375"/>
            <a:ext cx="2914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00000"/>
                </a:solidFill>
              </a:defRPr>
            </a:pPr>
            <a:r>
              <a:rPr sz="1275" b="0">
                <a:solidFill>
                  <a:srgbClr val="000000"/>
                </a:solidFill>
              </a:rPr>
              <a:t>Microservices + saga</a:t>
            </a:r>
          </a:p>
        </p:txBody>
      </p:sp>
      <p:sp>
        <p:nvSpPr>
          <p:cNvPr id="47" name="">
            <a:extLst xmlns:a="http://schemas.openxmlformats.org/drawingml/2006/main">
              <a:ext uri="{FF2B5EF4-FFF2-40B4-BE49-F238E27FC236}">
                <a16:creationId xmlns:a16="http://schemas.microsoft.com/office/drawing/2014/main" id="{5C25D13B-E86F-4010-BADC-383D5E6E5669}"/>
              </a:ext>
            </a:extLst>
          </p:cNvPr>
          <p:cNvSpPr>
            <a:spLocks xmlns:a="http://schemas.openxmlformats.org/drawingml/2006/main" noGrp="1"/>
          </p:cNvSpPr>
          <p:nvPr/>
        </p:nvSpPr>
        <p:spPr>
          <a:xfrm xmlns:a="http://schemas.openxmlformats.org/drawingml/2006/main">
            <a:off x="3752850" y="4781550"/>
            <a:ext cx="2438400" cy="685800"/>
          </a:xfrm>
          <a:prstGeom xmlns:a="http://schemas.openxmlformats.org/drawingml/2006/main" prst="rect">
            <a:avLst/>
          </a:prstGeom>
          <a:solidFill xmlns:a="http://schemas.openxmlformats.org/drawingml/2006/main">
            <a:srgbClr val="F7F7F7"/>
          </a:solidFill>
          <a:ln xmlns:a="http://schemas.openxmlformats.org/drawingml/2006/main" w="5715">
            <a:solidFill>
              <a:srgbClr val="B8BCC4"/>
            </a:solidFill>
            <a:prstDash val="solid"/>
          </a:ln>
        </p:spPr>
      </p:sp>
      <p:sp>
        <p:nvSpPr>
          <p:cNvPr id="48" name="">
            <a:extLst xmlns:a="http://schemas.openxmlformats.org/drawingml/2006/main">
              <a:ext uri="{FF2B5EF4-FFF2-40B4-BE49-F238E27FC236}">
                <a16:creationId xmlns:a16="http://schemas.microsoft.com/office/drawing/2014/main" id="{F7AD9009-71E6-4231-8575-BB550789ADAE}"/>
              </a:ext>
            </a:extLst>
          </p:cNvPr>
          <p:cNvSpPr>
            <a:spLocks xmlns:a="http://schemas.openxmlformats.org/drawingml/2006/main" noGrp="1"/>
          </p:cNvSpPr>
          <p:nvPr/>
        </p:nvSpPr>
        <p:spPr>
          <a:xfrm xmlns:a="http://schemas.openxmlformats.org/drawingml/2006/main">
            <a:off x="3867150" y="4905375"/>
            <a:ext cx="2209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00000"/>
                </a:solidFill>
              </a:defRPr>
            </a:pPr>
            <a:r>
              <a:rPr sz="1275" b="0">
                <a:solidFill>
                  <a:srgbClr val="000000"/>
                </a:solidFill>
              </a:rPr>
              <a:t>Possible; more partial failures</a:t>
            </a:r>
          </a:p>
        </p:txBody>
      </p:sp>
      <p:sp>
        <p:nvSpPr>
          <p:cNvPr id="49" name="">
            <a:extLst xmlns:a="http://schemas.openxmlformats.org/drawingml/2006/main">
              <a:ext uri="{FF2B5EF4-FFF2-40B4-BE49-F238E27FC236}">
                <a16:creationId xmlns:a16="http://schemas.microsoft.com/office/drawing/2014/main" id="{C2A788BB-C256-46E1-9499-2A41A8E6C4E6}"/>
              </a:ext>
            </a:extLst>
          </p:cNvPr>
          <p:cNvSpPr>
            <a:spLocks xmlns:a="http://schemas.openxmlformats.org/drawingml/2006/main" noGrp="1"/>
          </p:cNvSpPr>
          <p:nvPr/>
        </p:nvSpPr>
        <p:spPr>
          <a:xfrm xmlns:a="http://schemas.openxmlformats.org/drawingml/2006/main">
            <a:off x="6191250" y="4781550"/>
            <a:ext cx="2000250" cy="685800"/>
          </a:xfrm>
          <a:prstGeom xmlns:a="http://schemas.openxmlformats.org/drawingml/2006/main" prst="rect">
            <a:avLst/>
          </a:prstGeom>
          <a:solidFill xmlns:a="http://schemas.openxmlformats.org/drawingml/2006/main">
            <a:srgbClr val="F7F7F7"/>
          </a:solidFill>
          <a:ln xmlns:a="http://schemas.openxmlformats.org/drawingml/2006/main" w="5715">
            <a:solidFill>
              <a:srgbClr val="B8BCC4"/>
            </a:solidFill>
            <a:prstDash val="solid"/>
          </a:ln>
        </p:spPr>
      </p:sp>
      <p:sp>
        <p:nvSpPr>
          <p:cNvPr id="50" name="">
            <a:extLst xmlns:a="http://schemas.openxmlformats.org/drawingml/2006/main">
              <a:ext uri="{FF2B5EF4-FFF2-40B4-BE49-F238E27FC236}">
                <a16:creationId xmlns:a16="http://schemas.microsoft.com/office/drawing/2014/main" id="{445F0057-8F09-40A3-8E46-E7161861A0D1}"/>
              </a:ext>
            </a:extLst>
          </p:cNvPr>
          <p:cNvSpPr>
            <a:spLocks xmlns:a="http://schemas.openxmlformats.org/drawingml/2006/main" noGrp="1"/>
          </p:cNvSpPr>
          <p:nvPr/>
        </p:nvSpPr>
        <p:spPr>
          <a:xfrm xmlns:a="http://schemas.openxmlformats.org/drawingml/2006/main">
            <a:off x="6305550" y="4905375"/>
            <a:ext cx="1771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00000"/>
                </a:solidFill>
              </a:defRPr>
            </a:pPr>
            <a:r>
              <a:rPr sz="1275" b="0">
                <a:solidFill>
                  <a:srgbClr val="000000"/>
                </a:solidFill>
              </a:rPr>
              <a:t>Very high</a:t>
            </a:r>
          </a:p>
        </p:txBody>
      </p:sp>
      <p:sp>
        <p:nvSpPr>
          <p:cNvPr id="51" name="">
            <a:extLst xmlns:a="http://schemas.openxmlformats.org/drawingml/2006/main">
              <a:ext uri="{FF2B5EF4-FFF2-40B4-BE49-F238E27FC236}">
                <a16:creationId xmlns:a16="http://schemas.microsoft.com/office/drawing/2014/main" id="{E5AE7F28-1A70-421F-92A3-936847D708DC}"/>
              </a:ext>
            </a:extLst>
          </p:cNvPr>
          <p:cNvSpPr>
            <a:spLocks xmlns:a="http://schemas.openxmlformats.org/drawingml/2006/main" noGrp="1"/>
          </p:cNvSpPr>
          <p:nvPr/>
        </p:nvSpPr>
        <p:spPr>
          <a:xfrm xmlns:a="http://schemas.openxmlformats.org/drawingml/2006/main">
            <a:off x="8191500" y="4781550"/>
            <a:ext cx="3390900" cy="685800"/>
          </a:xfrm>
          <a:prstGeom xmlns:a="http://schemas.openxmlformats.org/drawingml/2006/main" prst="rect">
            <a:avLst/>
          </a:prstGeom>
          <a:solidFill xmlns:a="http://schemas.openxmlformats.org/drawingml/2006/main">
            <a:srgbClr val="F7F7F7"/>
          </a:solidFill>
          <a:ln xmlns:a="http://schemas.openxmlformats.org/drawingml/2006/main" w="5715">
            <a:solidFill>
              <a:srgbClr val="B8BCC4"/>
            </a:solidFill>
            <a:prstDash val="solid"/>
          </a:ln>
        </p:spPr>
      </p:sp>
      <p:sp>
        <p:nvSpPr>
          <p:cNvPr id="52" name="">
            <a:extLst xmlns:a="http://schemas.openxmlformats.org/drawingml/2006/main">
              <a:ext uri="{FF2B5EF4-FFF2-40B4-BE49-F238E27FC236}">
                <a16:creationId xmlns:a16="http://schemas.microsoft.com/office/drawing/2014/main" id="{BEF21482-1F3E-409E-BD55-BD4547482889}"/>
              </a:ext>
            </a:extLst>
          </p:cNvPr>
          <p:cNvSpPr>
            <a:spLocks xmlns:a="http://schemas.openxmlformats.org/drawingml/2006/main" noGrp="1"/>
          </p:cNvSpPr>
          <p:nvPr/>
        </p:nvSpPr>
        <p:spPr>
          <a:xfrm xmlns:a="http://schemas.openxmlformats.org/drawingml/2006/main">
            <a:off x="8305800" y="4905375"/>
            <a:ext cx="3162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00000"/>
                </a:solidFill>
              </a:defRPr>
            </a:pPr>
            <a:r>
              <a:rPr sz="1275" b="0">
                <a:solidFill>
                  <a:srgbClr val="000000"/>
                </a:solidFill>
              </a:rPr>
              <a:t>Reject — no scale/team trigger</a:t>
            </a:r>
          </a:p>
        </p:txBody>
      </p:sp>
    </p:spTree>
    <p:extLst>
      <p:ext uri="{BB962C8B-B14F-4D97-AF65-F5344CB8AC3E}">
        <p14:creationId xmlns:p14="http://schemas.microsoft.com/office/powerpoint/2010/main" val="68316874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156497F-13A0-4FA4-A2C0-2772B581DAF3}"/>
              </a:ext>
            </a:extLst>
          </p:cNvPr>
          <p:cNvSpPr>
            <a:spLocks xmlns:a="http://schemas.openxmlformats.org/drawingml/2006/main" noGrp="1"/>
          </p:cNvSpPr>
          <p:nvPr/>
        </p:nvSpPr>
        <p:spPr>
          <a:xfrm xmlns:a="http://schemas.openxmlformats.org/drawingml/2006/main">
            <a:off x="609600" y="2857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UNIFIED SERVICE SCHEDULER</a:t>
            </a:r>
          </a:p>
        </p:txBody>
      </p:sp>
      <p:sp>
        <p:nvSpPr>
          <p:cNvPr id="2" name="">
            <a:extLst xmlns:a="http://schemas.openxmlformats.org/drawingml/2006/main">
              <a:ext uri="{FF2B5EF4-FFF2-40B4-BE49-F238E27FC236}">
                <a16:creationId xmlns:a16="http://schemas.microsoft.com/office/drawing/2014/main" id="{766D559E-B8EC-4D82-AA3C-DD25AF122665}"/>
              </a:ext>
            </a:extLst>
          </p:cNvPr>
          <p:cNvSpPr>
            <a:spLocks xmlns:a="http://schemas.openxmlformats.org/drawingml/2006/main" noGrp="1"/>
          </p:cNvSpPr>
          <p:nvPr/>
        </p:nvSpPr>
        <p:spPr>
          <a:xfrm xmlns:a="http://schemas.openxmlformats.org/drawingml/2006/main">
            <a:off x="609600" y="533400"/>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000000"/>
                </a:solidFill>
              </a:defRPr>
            </a:pPr>
            <a:r>
              <a:rPr sz="3000" b="1">
                <a:solidFill>
                  <a:srgbClr val="000000"/>
                </a:solidFill>
              </a:rPr>
              <a:t>Repository skills turned AI into a controlled engineering workflow</a:t>
            </a:r>
          </a:p>
        </p:txBody>
      </p:sp>
      <p:sp>
        <p:nvSpPr>
          <p:cNvPr id="3" name="">
            <a:extLst xmlns:a="http://schemas.openxmlformats.org/drawingml/2006/main">
              <a:ext uri="{FF2B5EF4-FFF2-40B4-BE49-F238E27FC236}">
                <a16:creationId xmlns:a16="http://schemas.microsoft.com/office/drawing/2014/main" id="{E32BD660-281E-48E2-AC5A-4060BE19C389}"/>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9E767CB0-1641-4D42-93A4-785F66845A3F}"/>
              </a:ext>
            </a:extLst>
          </p:cNvPr>
          <p:cNvSpPr>
            <a:spLocks xmlns:a="http://schemas.openxmlformats.org/drawingml/2006/main" noGrp="1"/>
          </p:cNvSpPr>
          <p:nvPr/>
        </p:nvSpPr>
        <p:spPr>
          <a:xfrm xmlns:a="http://schemas.openxmlformats.org/drawingml/2006/main">
            <a:off x="11144250" y="64198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470"/>
                </a:solidFill>
              </a:defRPr>
            </a:pPr>
            <a:r>
              <a:rPr sz="975" b="0">
                <a:solidFill>
                  <a:srgbClr val="5E6470"/>
                </a:solidFill>
              </a:rPr>
              <a:t>06</a:t>
            </a:r>
          </a:p>
        </p:txBody>
      </p:sp>
      <p:sp>
        <p:nvSpPr>
          <p:cNvPr id="5" name="">
            <a:extLst xmlns:a="http://schemas.openxmlformats.org/drawingml/2006/main">
              <a:ext uri="{FF2B5EF4-FFF2-40B4-BE49-F238E27FC236}">
                <a16:creationId xmlns:a16="http://schemas.microsoft.com/office/drawing/2014/main" id="{2AECF1FE-EB0E-4ED5-BB49-53F451DE02BC}"/>
              </a:ext>
            </a:extLst>
          </p:cNvPr>
          <p:cNvSpPr>
            <a:spLocks xmlns:a="http://schemas.openxmlformats.org/drawingml/2006/main" noGrp="1"/>
          </p:cNvSpPr>
          <p:nvPr/>
        </p:nvSpPr>
        <p:spPr>
          <a:xfrm xmlns:a="http://schemas.openxmlformats.org/drawingml/2006/main">
            <a:off x="1047750" y="3009900"/>
            <a:ext cx="9829800" cy="0"/>
          </a:xfrm>
          <a:prstGeom xmlns:a="http://schemas.openxmlformats.org/drawingml/2006/main" prst="line">
            <a:avLst/>
          </a:prstGeom>
          <a:noFill xmlns:a="http://schemas.openxmlformats.org/drawingml/2006/main"/>
          <a:ln xmlns:a="http://schemas.openxmlformats.org/drawingml/2006/main" w="19050">
            <a:solidFill>
              <a:srgbClr val="000000"/>
            </a:solidFill>
            <a:prstDash val="solid"/>
          </a:ln>
        </p:spPr>
      </p:sp>
      <p:sp>
        <p:nvSpPr>
          <p:cNvPr id="6" name="">
            <a:extLst xmlns:a="http://schemas.openxmlformats.org/drawingml/2006/main">
              <a:ext uri="{FF2B5EF4-FFF2-40B4-BE49-F238E27FC236}">
                <a16:creationId xmlns:a16="http://schemas.microsoft.com/office/drawing/2014/main" id="{F79B8BE3-F984-4640-8E8C-E6CC16278420}"/>
              </a:ext>
            </a:extLst>
          </p:cNvPr>
          <p:cNvSpPr>
            <a:spLocks xmlns:a="http://schemas.openxmlformats.org/drawingml/2006/main" noGrp="1"/>
          </p:cNvSpPr>
          <p:nvPr/>
        </p:nvSpPr>
        <p:spPr>
          <a:xfrm xmlns:a="http://schemas.openxmlformats.org/drawingml/2006/main">
            <a:off x="952500" y="18478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defRPr>
            </a:pPr>
            <a:r>
              <a:rPr sz="1200" b="1">
                <a:solidFill>
                  <a:srgbClr val="3D8DFF"/>
                </a:solidFill>
              </a:rPr>
              <a:t>PLAN</a:t>
            </a:r>
          </a:p>
        </p:txBody>
      </p:sp>
      <p:sp>
        <p:nvSpPr>
          <p:cNvPr id="7" name="">
            <a:extLst xmlns:a="http://schemas.openxmlformats.org/drawingml/2006/main">
              <a:ext uri="{FF2B5EF4-FFF2-40B4-BE49-F238E27FC236}">
                <a16:creationId xmlns:a16="http://schemas.microsoft.com/office/drawing/2014/main" id="{79D225B8-EFD6-4DFA-8F4E-DC2874E35517}"/>
              </a:ext>
            </a:extLst>
          </p:cNvPr>
          <p:cNvSpPr>
            <a:spLocks xmlns:a="http://schemas.openxmlformats.org/drawingml/2006/main" noGrp="1"/>
          </p:cNvSpPr>
          <p:nvPr/>
        </p:nvSpPr>
        <p:spPr>
          <a:xfrm xmlns:a="http://schemas.openxmlformats.org/drawingml/2006/main">
            <a:off x="952500" y="2228850"/>
            <a:ext cx="2057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0000"/>
                </a:solidFill>
              </a:defRPr>
            </a:pPr>
            <a:r>
              <a:rPr sz="1800" b="1">
                <a:solidFill>
                  <a:srgbClr val="000000"/>
                </a:solidFill>
              </a:rPr>
              <a:t>Scope and design</a:t>
            </a:r>
          </a:p>
        </p:txBody>
      </p:sp>
      <p:sp>
        <p:nvSpPr>
          <p:cNvPr id="8" name="">
            <a:extLst xmlns:a="http://schemas.openxmlformats.org/drawingml/2006/main">
              <a:ext uri="{FF2B5EF4-FFF2-40B4-BE49-F238E27FC236}">
                <a16:creationId xmlns:a16="http://schemas.microsoft.com/office/drawing/2014/main" id="{5E0A0539-37A8-44C6-B2C6-E18C34B00692}"/>
              </a:ext>
            </a:extLst>
          </p:cNvPr>
          <p:cNvSpPr>
            <a:spLocks xmlns:a="http://schemas.openxmlformats.org/drawingml/2006/main" noGrp="1"/>
          </p:cNvSpPr>
          <p:nvPr/>
        </p:nvSpPr>
        <p:spPr>
          <a:xfrm xmlns:a="http://schemas.openxmlformats.org/drawingml/2006/main">
            <a:off x="971550" y="2924175"/>
            <a:ext cx="171450" cy="171450"/>
          </a:xfrm>
          <a:prstGeom xmlns:a="http://schemas.openxmlformats.org/drawingml/2006/main" prst="ellipse">
            <a:avLst/>
          </a:prstGeom>
          <a:solidFill xmlns:a="http://schemas.openxmlformats.org/drawingml/2006/main">
            <a:srgbClr val="00000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6E66A53-1471-4208-A0FC-F2CEB865E1C0}"/>
              </a:ext>
            </a:extLst>
          </p:cNvPr>
          <p:cNvSpPr>
            <a:spLocks xmlns:a="http://schemas.openxmlformats.org/drawingml/2006/main" noGrp="1"/>
          </p:cNvSpPr>
          <p:nvPr/>
        </p:nvSpPr>
        <p:spPr>
          <a:xfrm xmlns:a="http://schemas.openxmlformats.org/drawingml/2006/main">
            <a:off x="952500" y="3371850"/>
            <a:ext cx="2095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E6470"/>
                </a:solidFill>
              </a:defRPr>
            </a:pPr>
            <a:r>
              <a:rPr sz="1425" b="0">
                <a:solidFill>
                  <a:srgbClr val="5E6470"/>
                </a:solidFill>
              </a:rPr>
              <a:t>mk:plan</a:t>
            </a:r>
          </a:p>
          <a:p xmlns:a="http://schemas.openxmlformats.org/drawingml/2006/main">
            <a:pPr algn="l">
              <a:defRPr sz="1425" b="0">
                <a:solidFill>
                  <a:srgbClr val="5E6470"/>
                </a:solidFill>
              </a:defRPr>
            </a:pPr>
            <a:r>
              <a:rPr sz="1425" b="0">
                <a:solidFill>
                  <a:srgbClr val="5E6470"/>
                </a:solidFill>
              </a:rPr>
              <a:t>assumptions · ADRs</a:t>
            </a:r>
          </a:p>
          <a:p xmlns:a="http://schemas.openxmlformats.org/drawingml/2006/main">
            <a:pPr algn="l">
              <a:defRPr sz="1425" b="0">
                <a:solidFill>
                  <a:srgbClr val="5E6470"/>
                </a:solidFill>
              </a:defRPr>
            </a:pPr>
            <a:r>
              <a:rPr sz="1425" b="0">
                <a:solidFill>
                  <a:srgbClr val="5E6470"/>
                </a:solidFill>
              </a:rPr>
              <a:t>verification criteria</a:t>
            </a:r>
          </a:p>
        </p:txBody>
      </p:sp>
      <p:sp>
        <p:nvSpPr>
          <p:cNvPr id="10" name="">
            <a:extLst xmlns:a="http://schemas.openxmlformats.org/drawingml/2006/main">
              <a:ext uri="{FF2B5EF4-FFF2-40B4-BE49-F238E27FC236}">
                <a16:creationId xmlns:a16="http://schemas.microsoft.com/office/drawing/2014/main" id="{F62C8F47-24DE-479B-AD80-7BA20FC1E870}"/>
              </a:ext>
            </a:extLst>
          </p:cNvPr>
          <p:cNvSpPr>
            <a:spLocks xmlns:a="http://schemas.openxmlformats.org/drawingml/2006/main" noGrp="1"/>
          </p:cNvSpPr>
          <p:nvPr/>
        </p:nvSpPr>
        <p:spPr>
          <a:xfrm xmlns:a="http://schemas.openxmlformats.org/drawingml/2006/main">
            <a:off x="3638550" y="18478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defRPr>
            </a:pPr>
            <a:r>
              <a:rPr sz="1200" b="1">
                <a:solidFill>
                  <a:srgbClr val="3D8DFF"/>
                </a:solidFill>
              </a:rPr>
              <a:t>BUILD</a:t>
            </a:r>
          </a:p>
        </p:txBody>
      </p:sp>
      <p:sp>
        <p:nvSpPr>
          <p:cNvPr id="11" name="">
            <a:extLst xmlns:a="http://schemas.openxmlformats.org/drawingml/2006/main">
              <a:ext uri="{FF2B5EF4-FFF2-40B4-BE49-F238E27FC236}">
                <a16:creationId xmlns:a16="http://schemas.microsoft.com/office/drawing/2014/main" id="{684C17C2-FA18-4891-BC7A-EFB77CAD08AB}"/>
              </a:ext>
            </a:extLst>
          </p:cNvPr>
          <p:cNvSpPr>
            <a:spLocks xmlns:a="http://schemas.openxmlformats.org/drawingml/2006/main" noGrp="1"/>
          </p:cNvSpPr>
          <p:nvPr/>
        </p:nvSpPr>
        <p:spPr>
          <a:xfrm xmlns:a="http://schemas.openxmlformats.org/drawingml/2006/main">
            <a:off x="3638550" y="2228850"/>
            <a:ext cx="2057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0000"/>
                </a:solidFill>
              </a:defRPr>
            </a:pPr>
            <a:r>
              <a:rPr sz="1800" b="1">
                <a:solidFill>
                  <a:srgbClr val="000000"/>
                </a:solidFill>
              </a:rPr>
              <a:t>Owned execution</a:t>
            </a:r>
          </a:p>
        </p:txBody>
      </p:sp>
      <p:sp>
        <p:nvSpPr>
          <p:cNvPr id="12" name="">
            <a:extLst xmlns:a="http://schemas.openxmlformats.org/drawingml/2006/main">
              <a:ext uri="{FF2B5EF4-FFF2-40B4-BE49-F238E27FC236}">
                <a16:creationId xmlns:a16="http://schemas.microsoft.com/office/drawing/2014/main" id="{1747B014-0A3C-4A78-AD76-EBFB845DC584}"/>
              </a:ext>
            </a:extLst>
          </p:cNvPr>
          <p:cNvSpPr>
            <a:spLocks xmlns:a="http://schemas.openxmlformats.org/drawingml/2006/main" noGrp="1"/>
          </p:cNvSpPr>
          <p:nvPr/>
        </p:nvSpPr>
        <p:spPr>
          <a:xfrm xmlns:a="http://schemas.openxmlformats.org/drawingml/2006/main">
            <a:off x="3657600" y="2924175"/>
            <a:ext cx="171450" cy="171450"/>
          </a:xfrm>
          <a:prstGeom xmlns:a="http://schemas.openxmlformats.org/drawingml/2006/main" prst="ellipse">
            <a:avLst/>
          </a:prstGeom>
          <a:solidFill xmlns:a="http://schemas.openxmlformats.org/drawingml/2006/main">
            <a:srgbClr val="00000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DCC8570-F6C0-4FE4-9B2B-8392F9D20D3F}"/>
              </a:ext>
            </a:extLst>
          </p:cNvPr>
          <p:cNvSpPr>
            <a:spLocks xmlns:a="http://schemas.openxmlformats.org/drawingml/2006/main" noGrp="1"/>
          </p:cNvSpPr>
          <p:nvPr/>
        </p:nvSpPr>
        <p:spPr>
          <a:xfrm xmlns:a="http://schemas.openxmlformats.org/drawingml/2006/main">
            <a:off x="3638550" y="3371850"/>
            <a:ext cx="2095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E6470"/>
                </a:solidFill>
              </a:defRPr>
            </a:pPr>
            <a:r>
              <a:rPr sz="1425" b="0">
                <a:solidFill>
                  <a:srgbClr val="5E6470"/>
                </a:solidFill>
              </a:rPr>
              <a:t>implement</a:t>
            </a:r>
          </a:p>
          <a:p xmlns:a="http://schemas.openxmlformats.org/drawingml/2006/main">
            <a:pPr algn="l">
              <a:defRPr sz="1425" b="0">
                <a:solidFill>
                  <a:srgbClr val="5E6470"/>
                </a:solidFill>
              </a:defRPr>
            </a:pPr>
            <a:r>
              <a:rPr sz="1425" b="0">
                <a:solidFill>
                  <a:srgbClr val="5E6470"/>
                </a:solidFill>
              </a:rPr>
              <a:t>implement-plan</a:t>
            </a:r>
          </a:p>
          <a:p xmlns:a="http://schemas.openxmlformats.org/drawingml/2006/main">
            <a:pPr algn="l">
              <a:defRPr sz="1425" b="0">
                <a:solidFill>
                  <a:srgbClr val="5E6470"/>
                </a:solidFill>
              </a:defRPr>
            </a:pPr>
            <a:r>
              <a:rPr sz="1425" b="0">
                <a:solidFill>
                  <a:srgbClr val="5E6470"/>
                </a:solidFill>
              </a:rPr>
              <a:t>clear file boundaries</a:t>
            </a:r>
          </a:p>
        </p:txBody>
      </p:sp>
      <p:sp>
        <p:nvSpPr>
          <p:cNvPr id="14" name="">
            <a:extLst xmlns:a="http://schemas.openxmlformats.org/drawingml/2006/main">
              <a:ext uri="{FF2B5EF4-FFF2-40B4-BE49-F238E27FC236}">
                <a16:creationId xmlns:a16="http://schemas.microsoft.com/office/drawing/2014/main" id="{F403C7DC-7DA0-4110-9565-DFF520A84A3B}"/>
              </a:ext>
            </a:extLst>
          </p:cNvPr>
          <p:cNvSpPr>
            <a:spLocks xmlns:a="http://schemas.openxmlformats.org/drawingml/2006/main" noGrp="1"/>
          </p:cNvSpPr>
          <p:nvPr/>
        </p:nvSpPr>
        <p:spPr>
          <a:xfrm xmlns:a="http://schemas.openxmlformats.org/drawingml/2006/main">
            <a:off x="6324600" y="18478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defRPr>
            </a:pPr>
            <a:r>
              <a:rPr sz="1200" b="1">
                <a:solidFill>
                  <a:srgbClr val="3D8DFF"/>
                </a:solidFill>
              </a:rPr>
              <a:t>VERIFY</a:t>
            </a:r>
          </a:p>
        </p:txBody>
      </p:sp>
      <p:sp>
        <p:nvSpPr>
          <p:cNvPr id="15" name="">
            <a:extLst xmlns:a="http://schemas.openxmlformats.org/drawingml/2006/main">
              <a:ext uri="{FF2B5EF4-FFF2-40B4-BE49-F238E27FC236}">
                <a16:creationId xmlns:a16="http://schemas.microsoft.com/office/drawing/2014/main" id="{2DB84C39-EF92-45FB-BDC2-9A558A8C1768}"/>
              </a:ext>
            </a:extLst>
          </p:cNvPr>
          <p:cNvSpPr>
            <a:spLocks xmlns:a="http://schemas.openxmlformats.org/drawingml/2006/main" noGrp="1"/>
          </p:cNvSpPr>
          <p:nvPr/>
        </p:nvSpPr>
        <p:spPr>
          <a:xfrm xmlns:a="http://schemas.openxmlformats.org/drawingml/2006/main">
            <a:off x="6324600" y="2228850"/>
            <a:ext cx="2057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0000"/>
                </a:solidFill>
              </a:defRPr>
            </a:pPr>
            <a:r>
              <a:rPr sz="1800" b="1">
                <a:solidFill>
                  <a:srgbClr val="000000"/>
                </a:solidFill>
              </a:rPr>
              <a:t>Adversarial gates</a:t>
            </a:r>
          </a:p>
        </p:txBody>
      </p:sp>
      <p:sp>
        <p:nvSpPr>
          <p:cNvPr id="16" name="">
            <a:extLst xmlns:a="http://schemas.openxmlformats.org/drawingml/2006/main">
              <a:ext uri="{FF2B5EF4-FFF2-40B4-BE49-F238E27FC236}">
                <a16:creationId xmlns:a16="http://schemas.microsoft.com/office/drawing/2014/main" id="{5EC5B920-21C0-4579-B709-23D45008128E}"/>
              </a:ext>
            </a:extLst>
          </p:cNvPr>
          <p:cNvSpPr>
            <a:spLocks xmlns:a="http://schemas.openxmlformats.org/drawingml/2006/main" noGrp="1"/>
          </p:cNvSpPr>
          <p:nvPr/>
        </p:nvSpPr>
        <p:spPr>
          <a:xfrm xmlns:a="http://schemas.openxmlformats.org/drawingml/2006/main">
            <a:off x="6343650" y="2924175"/>
            <a:ext cx="171450" cy="1714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F0E1519-A4ED-4901-B6C5-DBDC81C7A88F}"/>
              </a:ext>
            </a:extLst>
          </p:cNvPr>
          <p:cNvSpPr>
            <a:spLocks xmlns:a="http://schemas.openxmlformats.org/drawingml/2006/main" noGrp="1"/>
          </p:cNvSpPr>
          <p:nvPr/>
        </p:nvSpPr>
        <p:spPr>
          <a:xfrm xmlns:a="http://schemas.openxmlformats.org/drawingml/2006/main">
            <a:off x="6324600" y="3371850"/>
            <a:ext cx="2095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E6470"/>
                </a:solidFill>
              </a:defRPr>
            </a:pPr>
            <a:r>
              <a:rPr sz="1425" b="0">
                <a:solidFill>
                  <a:srgbClr val="5E6470"/>
                </a:solidFill>
              </a:rPr>
              <a:t>mk:test · code-review</a:t>
            </a:r>
          </a:p>
          <a:p xmlns:a="http://schemas.openxmlformats.org/drawingml/2006/main">
            <a:pPr algn="l">
              <a:defRPr sz="1425" b="0">
                <a:solidFill>
                  <a:srgbClr val="5E6470"/>
                </a:solidFill>
              </a:defRPr>
            </a:pPr>
            <a:r>
              <a:rPr sz="1425" b="0">
                <a:solidFill>
                  <a:srgbClr val="5E6470"/>
                </a:solidFill>
              </a:rPr>
              <a:t>mk:security · review-pr</a:t>
            </a:r>
          </a:p>
          <a:p xmlns:a="http://schemas.openxmlformats.org/drawingml/2006/main">
            <a:pPr algn="l">
              <a:defRPr sz="1425" b="0">
                <a:solidFill>
                  <a:srgbClr val="5E6470"/>
                </a:solidFill>
              </a:defRPr>
            </a:pPr>
            <a:r>
              <a:rPr sz="1425" b="0">
                <a:solidFill>
                  <a:srgbClr val="5E6470"/>
                </a:solidFill>
              </a:rPr>
              <a:t>no ignored failures</a:t>
            </a:r>
          </a:p>
        </p:txBody>
      </p:sp>
      <p:sp>
        <p:nvSpPr>
          <p:cNvPr id="18" name="">
            <a:extLst xmlns:a="http://schemas.openxmlformats.org/drawingml/2006/main">
              <a:ext uri="{FF2B5EF4-FFF2-40B4-BE49-F238E27FC236}">
                <a16:creationId xmlns:a16="http://schemas.microsoft.com/office/drawing/2014/main" id="{FF4D3058-7794-42BC-A8CE-B917BDF1B56F}"/>
              </a:ext>
            </a:extLst>
          </p:cNvPr>
          <p:cNvSpPr>
            <a:spLocks xmlns:a="http://schemas.openxmlformats.org/drawingml/2006/main" noGrp="1"/>
          </p:cNvSpPr>
          <p:nvPr/>
        </p:nvSpPr>
        <p:spPr>
          <a:xfrm xmlns:a="http://schemas.openxmlformats.org/drawingml/2006/main">
            <a:off x="9010650" y="18478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defRPr>
            </a:pPr>
            <a:r>
              <a:rPr sz="1200" b="1">
                <a:solidFill>
                  <a:srgbClr val="3D8DFF"/>
                </a:solidFill>
              </a:rPr>
              <a:t>EXPLAIN</a:t>
            </a:r>
          </a:p>
        </p:txBody>
      </p:sp>
      <p:sp>
        <p:nvSpPr>
          <p:cNvPr id="19" name="">
            <a:extLst xmlns:a="http://schemas.openxmlformats.org/drawingml/2006/main">
              <a:ext uri="{FF2B5EF4-FFF2-40B4-BE49-F238E27FC236}">
                <a16:creationId xmlns:a16="http://schemas.microsoft.com/office/drawing/2014/main" id="{CEC6BC6C-1A92-4CE4-8FCF-0312BD50E942}"/>
              </a:ext>
            </a:extLst>
          </p:cNvPr>
          <p:cNvSpPr>
            <a:spLocks xmlns:a="http://schemas.openxmlformats.org/drawingml/2006/main" noGrp="1"/>
          </p:cNvSpPr>
          <p:nvPr/>
        </p:nvSpPr>
        <p:spPr>
          <a:xfrm xmlns:a="http://schemas.openxmlformats.org/drawingml/2006/main">
            <a:off x="9010650" y="2228850"/>
            <a:ext cx="2057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0000"/>
                </a:solidFill>
              </a:defRPr>
            </a:pPr>
            <a:r>
              <a:rPr sz="1800" b="1">
                <a:solidFill>
                  <a:srgbClr val="000000"/>
                </a:solidFill>
              </a:rPr>
              <a:t>Traceable handoff</a:t>
            </a:r>
          </a:p>
        </p:txBody>
      </p:sp>
      <p:sp>
        <p:nvSpPr>
          <p:cNvPr id="20" name="">
            <a:extLst xmlns:a="http://schemas.openxmlformats.org/drawingml/2006/main">
              <a:ext uri="{FF2B5EF4-FFF2-40B4-BE49-F238E27FC236}">
                <a16:creationId xmlns:a16="http://schemas.microsoft.com/office/drawing/2014/main" id="{330E11A6-F592-4EA9-9E79-5FA2C2CB6C3B}"/>
              </a:ext>
            </a:extLst>
          </p:cNvPr>
          <p:cNvSpPr>
            <a:spLocks xmlns:a="http://schemas.openxmlformats.org/drawingml/2006/main" noGrp="1"/>
          </p:cNvSpPr>
          <p:nvPr/>
        </p:nvSpPr>
        <p:spPr>
          <a:xfrm xmlns:a="http://schemas.openxmlformats.org/drawingml/2006/main">
            <a:off x="9029700" y="2924175"/>
            <a:ext cx="171450" cy="171450"/>
          </a:xfrm>
          <a:prstGeom xmlns:a="http://schemas.openxmlformats.org/drawingml/2006/main" prst="ellipse">
            <a:avLst/>
          </a:prstGeom>
          <a:solidFill xmlns:a="http://schemas.openxmlformats.org/drawingml/2006/main">
            <a:srgbClr val="00000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A70E601-8DEF-45E5-B226-4DAF72DC1681}"/>
              </a:ext>
            </a:extLst>
          </p:cNvPr>
          <p:cNvSpPr>
            <a:spLocks xmlns:a="http://schemas.openxmlformats.org/drawingml/2006/main" noGrp="1"/>
          </p:cNvSpPr>
          <p:nvPr/>
        </p:nvSpPr>
        <p:spPr>
          <a:xfrm xmlns:a="http://schemas.openxmlformats.org/drawingml/2006/main">
            <a:off x="9010650" y="3371850"/>
            <a:ext cx="2095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E6470"/>
                </a:solidFill>
              </a:defRPr>
            </a:pPr>
            <a:r>
              <a:rPr sz="1425" b="0">
                <a:solidFill>
                  <a:srgbClr val="5E6470"/>
                </a:solidFill>
              </a:rPr>
              <a:t>mk:docs · mk:git</a:t>
            </a:r>
          </a:p>
          <a:p xmlns:a="http://schemas.openxmlformats.org/drawingml/2006/main">
            <a:pPr algn="l">
              <a:defRPr sz="1425" b="0">
                <a:solidFill>
                  <a:srgbClr val="5E6470"/>
                </a:solidFill>
              </a:defRPr>
            </a:pPr>
            <a:r>
              <a:rPr sz="1425" b="0">
                <a:solidFill>
                  <a:srgbClr val="5E6470"/>
                </a:solidFill>
              </a:rPr>
              <a:t>README · ADRs</a:t>
            </a:r>
          </a:p>
          <a:p xmlns:a="http://schemas.openxmlformats.org/drawingml/2006/main">
            <a:pPr algn="l">
              <a:defRPr sz="1425" b="0">
                <a:solidFill>
                  <a:srgbClr val="5E6470"/>
                </a:solidFill>
              </a:defRPr>
            </a:pPr>
            <a:r>
              <a:rPr sz="1425" b="0">
                <a:solidFill>
                  <a:srgbClr val="5E6470"/>
                </a:solidFill>
              </a:rPr>
              <a:t>safe delivery</a:t>
            </a:r>
          </a:p>
        </p:txBody>
      </p:sp>
      <p:sp>
        <p:nvSpPr>
          <p:cNvPr id="22" name="">
            <a:extLst xmlns:a="http://schemas.openxmlformats.org/drawingml/2006/main">
              <a:ext uri="{FF2B5EF4-FFF2-40B4-BE49-F238E27FC236}">
                <a16:creationId xmlns:a16="http://schemas.microsoft.com/office/drawing/2014/main" id="{4904292F-BD95-4909-834C-4678D830E020}"/>
              </a:ext>
            </a:extLst>
          </p:cNvPr>
          <p:cNvSpPr>
            <a:spLocks xmlns:a="http://schemas.openxmlformats.org/drawingml/2006/main" noGrp="1"/>
          </p:cNvSpPr>
          <p:nvPr/>
        </p:nvSpPr>
        <p:spPr>
          <a:xfrm xmlns:a="http://schemas.openxmlformats.org/drawingml/2006/main">
            <a:off x="609600" y="5162550"/>
            <a:ext cx="10972800" cy="723900"/>
          </a:xfrm>
          <a:prstGeom xmlns:a="http://schemas.openxmlformats.org/drawingml/2006/main" prst="rect">
            <a:avLst/>
          </a:prstGeom>
          <a:solidFill xmlns:a="http://schemas.openxmlformats.org/drawingml/2006/main">
            <a:srgbClr val="EEF7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557F544-C70C-46A2-8B5C-1D7CAA7532C1}"/>
              </a:ext>
            </a:extLst>
          </p:cNvPr>
          <p:cNvSpPr>
            <a:spLocks xmlns:a="http://schemas.openxmlformats.org/drawingml/2006/main" noGrp="1"/>
          </p:cNvSpPr>
          <p:nvPr/>
        </p:nvSpPr>
        <p:spPr>
          <a:xfrm xmlns:a="http://schemas.openxmlformats.org/drawingml/2006/main">
            <a:off x="857250" y="5362575"/>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000000"/>
                </a:solidFill>
              </a:defRPr>
            </a:pPr>
            <a:r>
              <a:rPr sz="1725" b="1">
                <a:solidFill>
                  <a:srgbClr val="000000"/>
                </a:solidFill>
              </a:rPr>
              <a:t>AI proposed and accelerated; repository rules and executable evidence controlled acceptance.</a:t>
            </a:r>
          </a:p>
        </p:txBody>
      </p:sp>
    </p:spTree>
    <p:extLst>
      <p:ext uri="{BB962C8B-B14F-4D97-AF65-F5344CB8AC3E}">
        <p14:creationId xmlns:p14="http://schemas.microsoft.com/office/powerpoint/2010/main" val="129506254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8FB7B75-0973-4F9E-A0ED-D65A13AEBE91}"/>
              </a:ext>
            </a:extLst>
          </p:cNvPr>
          <p:cNvSpPr>
            <a:spLocks xmlns:a="http://schemas.openxmlformats.org/drawingml/2006/main" noGrp="1"/>
          </p:cNvSpPr>
          <p:nvPr/>
        </p:nvSpPr>
        <p:spPr>
          <a:xfrm xmlns:a="http://schemas.openxmlformats.org/drawingml/2006/main">
            <a:off x="609600" y="2857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UNIFIED SERVICE SCHEDULER</a:t>
            </a:r>
          </a:p>
        </p:txBody>
      </p:sp>
      <p:sp>
        <p:nvSpPr>
          <p:cNvPr id="2" name="">
            <a:extLst xmlns:a="http://schemas.openxmlformats.org/drawingml/2006/main">
              <a:ext uri="{FF2B5EF4-FFF2-40B4-BE49-F238E27FC236}">
                <a16:creationId xmlns:a16="http://schemas.microsoft.com/office/drawing/2014/main" id="{8E73F6F6-542F-4307-A858-C853BC3AA337}"/>
              </a:ext>
            </a:extLst>
          </p:cNvPr>
          <p:cNvSpPr>
            <a:spLocks xmlns:a="http://schemas.openxmlformats.org/drawingml/2006/main" noGrp="1"/>
          </p:cNvSpPr>
          <p:nvPr/>
        </p:nvSpPr>
        <p:spPr>
          <a:xfrm xmlns:a="http://schemas.openxmlformats.org/drawingml/2006/main">
            <a:off x="609600" y="533400"/>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000000"/>
                </a:solidFill>
              </a:defRPr>
            </a:pPr>
            <a:r>
              <a:rPr sz="3000" b="1">
                <a:solidFill>
                  <a:srgbClr val="000000"/>
                </a:solidFill>
              </a:rPr>
              <a:t>AI output was accepted only after it survived evidence</a:t>
            </a:r>
          </a:p>
        </p:txBody>
      </p:sp>
      <p:sp>
        <p:nvSpPr>
          <p:cNvPr id="3" name="">
            <a:extLst xmlns:a="http://schemas.openxmlformats.org/drawingml/2006/main">
              <a:ext uri="{FF2B5EF4-FFF2-40B4-BE49-F238E27FC236}">
                <a16:creationId xmlns:a16="http://schemas.microsoft.com/office/drawing/2014/main" id="{1BC1C44E-352A-4131-98C2-0F0FCA8B186D}"/>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7770D665-3832-4A72-90AD-1AD50B44071B}"/>
              </a:ext>
            </a:extLst>
          </p:cNvPr>
          <p:cNvSpPr>
            <a:spLocks xmlns:a="http://schemas.openxmlformats.org/drawingml/2006/main" noGrp="1"/>
          </p:cNvSpPr>
          <p:nvPr/>
        </p:nvSpPr>
        <p:spPr>
          <a:xfrm xmlns:a="http://schemas.openxmlformats.org/drawingml/2006/main">
            <a:off x="11144250" y="64198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470"/>
                </a:solidFill>
              </a:defRPr>
            </a:pPr>
            <a:r>
              <a:rPr sz="975" b="0">
                <a:solidFill>
                  <a:srgbClr val="5E6470"/>
                </a:solidFill>
              </a:rPr>
              <a:t>07</a:t>
            </a:r>
          </a:p>
        </p:txBody>
      </p:sp>
      <p:sp>
        <p:nvSpPr>
          <p:cNvPr id="5" name="">
            <a:extLst xmlns:a="http://schemas.openxmlformats.org/drawingml/2006/main">
              <a:ext uri="{FF2B5EF4-FFF2-40B4-BE49-F238E27FC236}">
                <a16:creationId xmlns:a16="http://schemas.microsoft.com/office/drawing/2014/main" id="{006DCC51-F43A-4220-8868-4C29DF91BA47}"/>
              </a:ext>
            </a:extLst>
          </p:cNvPr>
          <p:cNvSpPr>
            <a:spLocks xmlns:a="http://schemas.openxmlformats.org/drawingml/2006/main" noGrp="1"/>
          </p:cNvSpPr>
          <p:nvPr/>
        </p:nvSpPr>
        <p:spPr>
          <a:xfrm xmlns:a="http://schemas.openxmlformats.org/drawingml/2006/main">
            <a:off x="609600" y="1657350"/>
            <a:ext cx="3143250" cy="66675"/>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B0112DA-3B21-4AF6-AFE6-296AF869B7D7}"/>
              </a:ext>
            </a:extLst>
          </p:cNvPr>
          <p:cNvSpPr>
            <a:spLocks xmlns:a="http://schemas.openxmlformats.org/drawingml/2006/main" noGrp="1"/>
          </p:cNvSpPr>
          <p:nvPr/>
        </p:nvSpPr>
        <p:spPr>
          <a:xfrm xmlns:a="http://schemas.openxmlformats.org/drawingml/2006/main">
            <a:off x="609600" y="1971675"/>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defRPr>
            </a:pPr>
            <a:r>
              <a:rPr sz="1125" b="1">
                <a:solidFill>
                  <a:srgbClr val="3D8DFF"/>
                </a:solidFill>
              </a:rPr>
              <a:t>DATABASE TEST</a:t>
            </a:r>
          </a:p>
        </p:txBody>
      </p:sp>
      <p:sp>
        <p:nvSpPr>
          <p:cNvPr id="7" name="">
            <a:extLst xmlns:a="http://schemas.openxmlformats.org/drawingml/2006/main">
              <a:ext uri="{FF2B5EF4-FFF2-40B4-BE49-F238E27FC236}">
                <a16:creationId xmlns:a16="http://schemas.microsoft.com/office/drawing/2014/main" id="{83A81684-24BE-4683-8D0B-00D1558BEA6B}"/>
              </a:ext>
            </a:extLst>
          </p:cNvPr>
          <p:cNvSpPr>
            <a:spLocks xmlns:a="http://schemas.openxmlformats.org/drawingml/2006/main" noGrp="1"/>
          </p:cNvSpPr>
          <p:nvPr/>
        </p:nvSpPr>
        <p:spPr>
          <a:xfrm xmlns:a="http://schemas.openxmlformats.org/drawingml/2006/main">
            <a:off x="609600" y="236220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0000"/>
                </a:solidFill>
              </a:defRPr>
            </a:pPr>
            <a:r>
              <a:rPr sz="2025" b="1">
                <a:solidFill>
                  <a:srgbClr val="000000"/>
                </a:solidFill>
              </a:rPr>
              <a:t>Cancellation path</a:t>
            </a:r>
          </a:p>
        </p:txBody>
      </p:sp>
      <p:sp>
        <p:nvSpPr>
          <p:cNvPr id="8" name="">
            <a:extLst xmlns:a="http://schemas.openxmlformats.org/drawingml/2006/main">
              <a:ext uri="{FF2B5EF4-FFF2-40B4-BE49-F238E27FC236}">
                <a16:creationId xmlns:a16="http://schemas.microsoft.com/office/drawing/2014/main" id="{DA3CBF3B-A79A-477B-867E-ECC58FEF7C73}"/>
              </a:ext>
            </a:extLst>
          </p:cNvPr>
          <p:cNvSpPr>
            <a:spLocks xmlns:a="http://schemas.openxmlformats.org/drawingml/2006/main" noGrp="1"/>
          </p:cNvSpPr>
          <p:nvPr/>
        </p:nvSpPr>
        <p:spPr>
          <a:xfrm xmlns:a="http://schemas.openxmlformats.org/drawingml/2006/main">
            <a:off x="609600" y="3105150"/>
            <a:ext cx="3143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E6470"/>
                </a:solidFill>
              </a:defRPr>
            </a:pPr>
            <a:r>
              <a:rPr sz="1425" b="0">
                <a:solidFill>
                  <a:srgbClr val="5E6470"/>
                </a:solidFill>
              </a:rPr>
              <a:t>A real PostgreSQL E2E test exposed a raw UPDATE ... RETURNING shape mismatch.</a:t>
            </a:r>
          </a:p>
        </p:txBody>
      </p:sp>
      <p:sp>
        <p:nvSpPr>
          <p:cNvPr id="9" name="">
            <a:extLst xmlns:a="http://schemas.openxmlformats.org/drawingml/2006/main">
              <a:ext uri="{FF2B5EF4-FFF2-40B4-BE49-F238E27FC236}">
                <a16:creationId xmlns:a16="http://schemas.microsoft.com/office/drawing/2014/main" id="{68566176-B97C-472D-9734-586722C7E868}"/>
              </a:ext>
            </a:extLst>
          </p:cNvPr>
          <p:cNvSpPr>
            <a:spLocks xmlns:a="http://schemas.openxmlformats.org/drawingml/2006/main" noGrp="1"/>
          </p:cNvSpPr>
          <p:nvPr/>
        </p:nvSpPr>
        <p:spPr>
          <a:xfrm xmlns:a="http://schemas.openxmlformats.org/drawingml/2006/main">
            <a:off x="609600" y="4514850"/>
            <a:ext cx="3143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000000"/>
                </a:solidFill>
              </a:defRPr>
            </a:pPr>
            <a:r>
              <a:rPr sz="1425" b="1">
                <a:solidFill>
                  <a:srgbClr val="000000"/>
                </a:solidFill>
              </a:rPr>
              <a:t>Fix: UPDATE, then SELECT inside the same transaction.</a:t>
            </a:r>
          </a:p>
        </p:txBody>
      </p:sp>
      <p:sp>
        <p:nvSpPr>
          <p:cNvPr id="10" name="">
            <a:extLst xmlns:a="http://schemas.openxmlformats.org/drawingml/2006/main">
              <a:ext uri="{FF2B5EF4-FFF2-40B4-BE49-F238E27FC236}">
                <a16:creationId xmlns:a16="http://schemas.microsoft.com/office/drawing/2014/main" id="{2E308158-7DC1-4666-87F5-D6F5AD6C6C10}"/>
              </a:ext>
            </a:extLst>
          </p:cNvPr>
          <p:cNvSpPr>
            <a:spLocks xmlns:a="http://schemas.openxmlformats.org/drawingml/2006/main" noGrp="1"/>
          </p:cNvSpPr>
          <p:nvPr/>
        </p:nvSpPr>
        <p:spPr>
          <a:xfrm xmlns:a="http://schemas.openxmlformats.org/drawingml/2006/main">
            <a:off x="4314825" y="1657350"/>
            <a:ext cx="3143250" cy="666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3E56D21-12A8-4FFD-9ACD-4C898ED2816E}"/>
              </a:ext>
            </a:extLst>
          </p:cNvPr>
          <p:cNvSpPr>
            <a:spLocks xmlns:a="http://schemas.openxmlformats.org/drawingml/2006/main" noGrp="1"/>
          </p:cNvSpPr>
          <p:nvPr/>
        </p:nvSpPr>
        <p:spPr>
          <a:xfrm xmlns:a="http://schemas.openxmlformats.org/drawingml/2006/main">
            <a:off x="4314825" y="1971675"/>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defRPr>
            </a:pPr>
            <a:r>
              <a:rPr sz="1125" b="1">
                <a:solidFill>
                  <a:srgbClr val="3D8DFF"/>
                </a:solidFill>
              </a:rPr>
              <a:t>COMPOSE SMOKE</a:t>
            </a:r>
          </a:p>
        </p:txBody>
      </p:sp>
      <p:sp>
        <p:nvSpPr>
          <p:cNvPr id="12" name="">
            <a:extLst xmlns:a="http://schemas.openxmlformats.org/drawingml/2006/main">
              <a:ext uri="{FF2B5EF4-FFF2-40B4-BE49-F238E27FC236}">
                <a16:creationId xmlns:a16="http://schemas.microsoft.com/office/drawing/2014/main" id="{8C5122BA-2E39-45F3-B851-AC56606386A6}"/>
              </a:ext>
            </a:extLst>
          </p:cNvPr>
          <p:cNvSpPr>
            <a:spLocks xmlns:a="http://schemas.openxmlformats.org/drawingml/2006/main" noGrp="1"/>
          </p:cNvSpPr>
          <p:nvPr/>
        </p:nvSpPr>
        <p:spPr>
          <a:xfrm xmlns:a="http://schemas.openxmlformats.org/drawingml/2006/main">
            <a:off x="4314825" y="236220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0000"/>
                </a:solidFill>
              </a:defRPr>
            </a:pPr>
            <a:r>
              <a:rPr sz="2025" b="1">
                <a:solidFill>
                  <a:srgbClr val="000000"/>
                </a:solidFill>
              </a:rPr>
              <a:t>Environment parity</a:t>
            </a:r>
          </a:p>
        </p:txBody>
      </p:sp>
      <p:sp>
        <p:nvSpPr>
          <p:cNvPr id="13" name="">
            <a:extLst xmlns:a="http://schemas.openxmlformats.org/drawingml/2006/main">
              <a:ext uri="{FF2B5EF4-FFF2-40B4-BE49-F238E27FC236}">
                <a16:creationId xmlns:a16="http://schemas.microsoft.com/office/drawing/2014/main" id="{3B808BD3-A09D-4445-BA35-DBEF92D4FB55}"/>
              </a:ext>
            </a:extLst>
          </p:cNvPr>
          <p:cNvSpPr>
            <a:spLocks xmlns:a="http://schemas.openxmlformats.org/drawingml/2006/main" noGrp="1"/>
          </p:cNvSpPr>
          <p:nvPr/>
        </p:nvSpPr>
        <p:spPr>
          <a:xfrm xmlns:a="http://schemas.openxmlformats.org/drawingml/2006/main">
            <a:off x="4314825" y="3105150"/>
            <a:ext cx="3143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E6470"/>
                </a:solidFill>
              </a:defRPr>
            </a:pPr>
            <a:r>
              <a:rPr sz="1425" b="0">
                <a:solidFill>
                  <a:srgbClr val="5E6470"/>
                </a:solidFill>
              </a:rPr>
              <a:t>Production mode implicitly enabled TLS, while local PostgreSQL did not offer TLS.</a:t>
            </a:r>
          </a:p>
        </p:txBody>
      </p:sp>
      <p:sp>
        <p:nvSpPr>
          <p:cNvPr id="14" name="">
            <a:extLst xmlns:a="http://schemas.openxmlformats.org/drawingml/2006/main">
              <a:ext uri="{FF2B5EF4-FFF2-40B4-BE49-F238E27FC236}">
                <a16:creationId xmlns:a16="http://schemas.microsoft.com/office/drawing/2014/main" id="{0A972870-3BF1-4243-A4A8-D8A1F77A8681}"/>
              </a:ext>
            </a:extLst>
          </p:cNvPr>
          <p:cNvSpPr>
            <a:spLocks xmlns:a="http://schemas.openxmlformats.org/drawingml/2006/main" noGrp="1"/>
          </p:cNvSpPr>
          <p:nvPr/>
        </p:nvSpPr>
        <p:spPr>
          <a:xfrm xmlns:a="http://schemas.openxmlformats.org/drawingml/2006/main">
            <a:off x="4314825" y="4514850"/>
            <a:ext cx="3143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000000"/>
                </a:solidFill>
              </a:defRPr>
            </a:pPr>
            <a:r>
              <a:rPr sz="1425" b="1">
                <a:solidFill>
                  <a:srgbClr val="000000"/>
                </a:solidFill>
              </a:rPr>
              <a:t>Fix: explicit DATABASE_SSL configuration.</a:t>
            </a:r>
          </a:p>
        </p:txBody>
      </p:sp>
      <p:sp>
        <p:nvSpPr>
          <p:cNvPr id="15" name="">
            <a:extLst xmlns:a="http://schemas.openxmlformats.org/drawingml/2006/main">
              <a:ext uri="{FF2B5EF4-FFF2-40B4-BE49-F238E27FC236}">
                <a16:creationId xmlns:a16="http://schemas.microsoft.com/office/drawing/2014/main" id="{86CB7ABA-981A-4D9E-B797-E00478D1272F}"/>
              </a:ext>
            </a:extLst>
          </p:cNvPr>
          <p:cNvSpPr>
            <a:spLocks xmlns:a="http://schemas.openxmlformats.org/drawingml/2006/main" noGrp="1"/>
          </p:cNvSpPr>
          <p:nvPr/>
        </p:nvSpPr>
        <p:spPr>
          <a:xfrm xmlns:a="http://schemas.openxmlformats.org/drawingml/2006/main">
            <a:off x="8020050" y="1657350"/>
            <a:ext cx="3143250" cy="66675"/>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95D0427-CCA4-4E45-964F-194B2E04F3D4}"/>
              </a:ext>
            </a:extLst>
          </p:cNvPr>
          <p:cNvSpPr>
            <a:spLocks xmlns:a="http://schemas.openxmlformats.org/drawingml/2006/main" noGrp="1"/>
          </p:cNvSpPr>
          <p:nvPr/>
        </p:nvSpPr>
        <p:spPr>
          <a:xfrm xmlns:a="http://schemas.openxmlformats.org/drawingml/2006/main">
            <a:off x="8020050" y="1971675"/>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defRPr>
            </a:pPr>
            <a:r>
              <a:rPr sz="1125" b="1">
                <a:solidFill>
                  <a:srgbClr val="3D8DFF"/>
                </a:solidFill>
              </a:rPr>
              <a:t>TWO-AXIS REVIEW</a:t>
            </a:r>
          </a:p>
        </p:txBody>
      </p:sp>
      <p:sp>
        <p:nvSpPr>
          <p:cNvPr id="17" name="">
            <a:extLst xmlns:a="http://schemas.openxmlformats.org/drawingml/2006/main">
              <a:ext uri="{FF2B5EF4-FFF2-40B4-BE49-F238E27FC236}">
                <a16:creationId xmlns:a16="http://schemas.microsoft.com/office/drawing/2014/main" id="{D00100ED-7554-4FD8-9774-481A1E6055B4}"/>
              </a:ext>
            </a:extLst>
          </p:cNvPr>
          <p:cNvSpPr>
            <a:spLocks xmlns:a="http://schemas.openxmlformats.org/drawingml/2006/main" noGrp="1"/>
          </p:cNvSpPr>
          <p:nvPr/>
        </p:nvSpPr>
        <p:spPr>
          <a:xfrm xmlns:a="http://schemas.openxmlformats.org/drawingml/2006/main">
            <a:off x="8020050" y="236220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0000"/>
                </a:solidFill>
              </a:defRPr>
            </a:pPr>
            <a:r>
              <a:rPr sz="2025" b="1">
                <a:solidFill>
                  <a:srgbClr val="000000"/>
                </a:solidFill>
              </a:rPr>
              <a:t>Standards + spec</a:t>
            </a:r>
          </a:p>
        </p:txBody>
      </p:sp>
      <p:sp>
        <p:nvSpPr>
          <p:cNvPr id="18" name="">
            <a:extLst xmlns:a="http://schemas.openxmlformats.org/drawingml/2006/main">
              <a:ext uri="{FF2B5EF4-FFF2-40B4-BE49-F238E27FC236}">
                <a16:creationId xmlns:a16="http://schemas.microsoft.com/office/drawing/2014/main" id="{C1C9BDD7-91BA-4B04-9875-F059B828B5C2}"/>
              </a:ext>
            </a:extLst>
          </p:cNvPr>
          <p:cNvSpPr>
            <a:spLocks xmlns:a="http://schemas.openxmlformats.org/drawingml/2006/main" noGrp="1"/>
          </p:cNvSpPr>
          <p:nvPr/>
        </p:nvSpPr>
        <p:spPr>
          <a:xfrm xmlns:a="http://schemas.openxmlformats.org/drawingml/2006/main">
            <a:off x="8020050" y="3105150"/>
            <a:ext cx="3143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E6470"/>
                </a:solidFill>
              </a:defRPr>
            </a:pPr>
            <a:r>
              <a:rPr sz="1425" b="0">
                <a:solidFill>
                  <a:srgbClr val="5E6470"/>
                </a:solidFill>
              </a:rPr>
              <a:t>Review found ownership, contract, destructive-test and telemetry gaps.</a:t>
            </a:r>
          </a:p>
        </p:txBody>
      </p:sp>
      <p:sp>
        <p:nvSpPr>
          <p:cNvPr id="19" name="">
            <a:extLst xmlns:a="http://schemas.openxmlformats.org/drawingml/2006/main">
              <a:ext uri="{FF2B5EF4-FFF2-40B4-BE49-F238E27FC236}">
                <a16:creationId xmlns:a16="http://schemas.microsoft.com/office/drawing/2014/main" id="{9EA6CA77-F8B0-4469-B27B-F4D2BC81946A}"/>
              </a:ext>
            </a:extLst>
          </p:cNvPr>
          <p:cNvSpPr>
            <a:spLocks xmlns:a="http://schemas.openxmlformats.org/drawingml/2006/main" noGrp="1"/>
          </p:cNvSpPr>
          <p:nvPr/>
        </p:nvSpPr>
        <p:spPr>
          <a:xfrm xmlns:a="http://schemas.openxmlformats.org/drawingml/2006/main">
            <a:off x="8020050" y="4514850"/>
            <a:ext cx="3143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000000"/>
                </a:solidFill>
              </a:defRPr>
            </a:pPr>
            <a:r>
              <a:rPr sz="1425" b="1">
                <a:solidFill>
                  <a:srgbClr val="000000"/>
                </a:solidFill>
              </a:rPr>
              <a:t>Fix: module ports, OpenAPI DTOs, test guard and low-cardinality metrics.</a:t>
            </a:r>
          </a:p>
        </p:txBody>
      </p:sp>
      <p:sp>
        <p:nvSpPr>
          <p:cNvPr id="20" name="">
            <a:extLst xmlns:a="http://schemas.openxmlformats.org/drawingml/2006/main">
              <a:ext uri="{FF2B5EF4-FFF2-40B4-BE49-F238E27FC236}">
                <a16:creationId xmlns:a16="http://schemas.microsoft.com/office/drawing/2014/main" id="{FDD009F1-AEDE-499A-A02B-9F64CEE65F53}"/>
              </a:ext>
            </a:extLst>
          </p:cNvPr>
          <p:cNvSpPr>
            <a:spLocks xmlns:a="http://schemas.openxmlformats.org/drawingml/2006/main" noGrp="1"/>
          </p:cNvSpPr>
          <p:nvPr/>
        </p:nvSpPr>
        <p:spPr>
          <a:xfrm xmlns:a="http://schemas.openxmlformats.org/drawingml/2006/main">
            <a:off x="1809750" y="571500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000000"/>
                </a:solidFill>
              </a:defRPr>
            </a:pPr>
            <a:r>
              <a:rPr sz="1800" b="1">
                <a:solidFill>
                  <a:srgbClr val="000000"/>
                </a:solidFill>
              </a:rPr>
              <a:t>Ownership means changing the generated answer when the test disagrees.</a:t>
            </a:r>
          </a:p>
        </p:txBody>
      </p:sp>
    </p:spTree>
    <p:extLst>
      <p:ext uri="{BB962C8B-B14F-4D97-AF65-F5344CB8AC3E}">
        <p14:creationId xmlns:p14="http://schemas.microsoft.com/office/powerpoint/2010/main" val="107701409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20F8EBF-A663-472E-B86B-58006EDB15B7}"/>
              </a:ext>
            </a:extLst>
          </p:cNvPr>
          <p:cNvSpPr>
            <a:spLocks xmlns:a="http://schemas.openxmlformats.org/drawingml/2006/main" noGrp="1"/>
          </p:cNvSpPr>
          <p:nvPr/>
        </p:nvSpPr>
        <p:spPr>
          <a:xfrm xmlns:a="http://schemas.openxmlformats.org/drawingml/2006/main">
            <a:off x="609600" y="2857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UNIFIED SERVICE SCHEDULER</a:t>
            </a:r>
          </a:p>
        </p:txBody>
      </p:sp>
      <p:sp>
        <p:nvSpPr>
          <p:cNvPr id="2" name="">
            <a:extLst xmlns:a="http://schemas.openxmlformats.org/drawingml/2006/main">
              <a:ext uri="{FF2B5EF4-FFF2-40B4-BE49-F238E27FC236}">
                <a16:creationId xmlns:a16="http://schemas.microsoft.com/office/drawing/2014/main" id="{3F5A0E88-BB83-48B3-AB6C-1CD88753ED0E}"/>
              </a:ext>
            </a:extLst>
          </p:cNvPr>
          <p:cNvSpPr>
            <a:spLocks xmlns:a="http://schemas.openxmlformats.org/drawingml/2006/main" noGrp="1"/>
          </p:cNvSpPr>
          <p:nvPr/>
        </p:nvSpPr>
        <p:spPr>
          <a:xfrm xmlns:a="http://schemas.openxmlformats.org/drawingml/2006/main">
            <a:off x="609600" y="533400"/>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000000"/>
                </a:solidFill>
              </a:defRPr>
            </a:pPr>
            <a:r>
              <a:rPr sz="3000" b="1">
                <a:solidFill>
                  <a:srgbClr val="000000"/>
                </a:solidFill>
              </a:rPr>
              <a:t>The test ladder moves from fast rules to real concurrency</a:t>
            </a:r>
          </a:p>
        </p:txBody>
      </p:sp>
      <p:sp>
        <p:nvSpPr>
          <p:cNvPr id="3" name="">
            <a:extLst xmlns:a="http://schemas.openxmlformats.org/drawingml/2006/main">
              <a:ext uri="{FF2B5EF4-FFF2-40B4-BE49-F238E27FC236}">
                <a16:creationId xmlns:a16="http://schemas.microsoft.com/office/drawing/2014/main" id="{390179B1-782F-4FCA-BE68-2BFD30A5C411}"/>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50866C87-D7E0-426A-8B43-2FD6FD090667}"/>
              </a:ext>
            </a:extLst>
          </p:cNvPr>
          <p:cNvSpPr>
            <a:spLocks xmlns:a="http://schemas.openxmlformats.org/drawingml/2006/main" noGrp="1"/>
          </p:cNvSpPr>
          <p:nvPr/>
        </p:nvSpPr>
        <p:spPr>
          <a:xfrm xmlns:a="http://schemas.openxmlformats.org/drawingml/2006/main">
            <a:off x="11144250" y="641985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470"/>
                </a:solidFill>
              </a:defRPr>
            </a:pPr>
            <a:r>
              <a:rPr sz="975" b="0">
                <a:solidFill>
                  <a:srgbClr val="5E6470"/>
                </a:solidFill>
              </a:rPr>
              <a:t>08</a:t>
            </a:r>
          </a:p>
        </p:txBody>
      </p:sp>
      <p:sp>
        <p:nvSpPr>
          <p:cNvPr id="5" name="">
            <a:extLst xmlns:a="http://schemas.openxmlformats.org/drawingml/2006/main">
              <a:ext uri="{FF2B5EF4-FFF2-40B4-BE49-F238E27FC236}">
                <a16:creationId xmlns:a16="http://schemas.microsoft.com/office/drawing/2014/main" id="{FCD16FF8-74A8-4DE4-AB74-830CC859C145}"/>
              </a:ext>
            </a:extLst>
          </p:cNvPr>
          <p:cNvSpPr>
            <a:spLocks xmlns:a="http://schemas.openxmlformats.org/drawingml/2006/main" noGrp="1"/>
          </p:cNvSpPr>
          <p:nvPr/>
        </p:nvSpPr>
        <p:spPr>
          <a:xfrm xmlns:a="http://schemas.openxmlformats.org/drawingml/2006/main">
            <a:off x="609600" y="1657350"/>
            <a:ext cx="400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00000"/>
                </a:solidFill>
              </a:defRPr>
            </a:pPr>
            <a:r>
              <a:rPr sz="1875" b="1">
                <a:solidFill>
                  <a:srgbClr val="000000"/>
                </a:solidFill>
              </a:rPr>
              <a:t>1. Prepare a disposable database</a:t>
            </a:r>
          </a:p>
        </p:txBody>
      </p:sp>
      <p:sp>
        <p:nvSpPr>
          <p:cNvPr id="6" name="">
            <a:extLst xmlns:a="http://schemas.openxmlformats.org/drawingml/2006/main">
              <a:ext uri="{FF2B5EF4-FFF2-40B4-BE49-F238E27FC236}">
                <a16:creationId xmlns:a16="http://schemas.microsoft.com/office/drawing/2014/main" id="{F7CB0095-7280-49B0-9B46-C13F99509A1E}"/>
              </a:ext>
            </a:extLst>
          </p:cNvPr>
          <p:cNvSpPr>
            <a:spLocks xmlns:a="http://schemas.openxmlformats.org/drawingml/2006/main" noGrp="1"/>
          </p:cNvSpPr>
          <p:nvPr/>
        </p:nvSpPr>
        <p:spPr>
          <a:xfrm xmlns:a="http://schemas.openxmlformats.org/drawingml/2006/main">
            <a:off x="609600" y="2190750"/>
            <a:ext cx="3905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E6470"/>
                </a:solidFill>
              </a:defRPr>
            </a:pPr>
            <a:r>
              <a:rPr sz="1500" b="0">
                <a:solidFill>
                  <a:srgbClr val="5E6470"/>
                </a:solidFill>
              </a:rPr>
              <a:t>Install dependencies, start PostgreSQL, and point tests at scheduler_test.</a:t>
            </a:r>
          </a:p>
        </p:txBody>
      </p:sp>
      <p:sp>
        <p:nvSpPr>
          <p:cNvPr id="7" name="">
            <a:extLst xmlns:a="http://schemas.openxmlformats.org/drawingml/2006/main">
              <a:ext uri="{FF2B5EF4-FFF2-40B4-BE49-F238E27FC236}">
                <a16:creationId xmlns:a16="http://schemas.microsoft.com/office/drawing/2014/main" id="{7B95AEF7-42BC-4C92-81EB-CF727D2E37D4}"/>
              </a:ext>
            </a:extLst>
          </p:cNvPr>
          <p:cNvSpPr>
            <a:spLocks xmlns:a="http://schemas.openxmlformats.org/drawingml/2006/main" noGrp="1"/>
          </p:cNvSpPr>
          <p:nvPr/>
        </p:nvSpPr>
        <p:spPr>
          <a:xfrm xmlns:a="http://schemas.openxmlformats.org/drawingml/2006/main">
            <a:off x="609600" y="3257550"/>
            <a:ext cx="400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00000"/>
                </a:solidFill>
              </a:defRPr>
            </a:pPr>
            <a:r>
              <a:rPr sz="1875" b="1">
                <a:solidFill>
                  <a:srgbClr val="000000"/>
                </a:solidFill>
              </a:rPr>
              <a:t>2. Run the verification ladder</a:t>
            </a:r>
          </a:p>
        </p:txBody>
      </p:sp>
      <p:sp>
        <p:nvSpPr>
          <p:cNvPr id="8" name="">
            <a:extLst xmlns:a="http://schemas.openxmlformats.org/drawingml/2006/main">
              <a:ext uri="{FF2B5EF4-FFF2-40B4-BE49-F238E27FC236}">
                <a16:creationId xmlns:a16="http://schemas.microsoft.com/office/drawing/2014/main" id="{6D6F9678-A132-41D4-A622-3B316AC23BEF}"/>
              </a:ext>
            </a:extLst>
          </p:cNvPr>
          <p:cNvSpPr>
            <a:spLocks xmlns:a="http://schemas.openxmlformats.org/drawingml/2006/main" noGrp="1"/>
          </p:cNvSpPr>
          <p:nvPr/>
        </p:nvSpPr>
        <p:spPr>
          <a:xfrm xmlns:a="http://schemas.openxmlformats.org/drawingml/2006/main">
            <a:off x="609600" y="3790950"/>
            <a:ext cx="3905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E6470"/>
                </a:solidFill>
              </a:defRPr>
            </a:pPr>
            <a:r>
              <a:rPr sz="1500" b="0">
                <a:solidFill>
                  <a:srgbClr val="5E6470"/>
                </a:solidFill>
              </a:rPr>
              <a:t>Unit → integration → E2E → concurrency → static/build gates</a:t>
            </a:r>
          </a:p>
        </p:txBody>
      </p:sp>
      <p:sp>
        <p:nvSpPr>
          <p:cNvPr id="9" name="">
            <a:extLst xmlns:a="http://schemas.openxmlformats.org/drawingml/2006/main">
              <a:ext uri="{FF2B5EF4-FFF2-40B4-BE49-F238E27FC236}">
                <a16:creationId xmlns:a16="http://schemas.microsoft.com/office/drawing/2014/main" id="{54E483FC-EE1B-43E5-BACE-03290C726F22}"/>
              </a:ext>
            </a:extLst>
          </p:cNvPr>
          <p:cNvSpPr>
            <a:spLocks xmlns:a="http://schemas.openxmlformats.org/drawingml/2006/main" noGrp="1"/>
          </p:cNvSpPr>
          <p:nvPr/>
        </p:nvSpPr>
        <p:spPr>
          <a:xfrm xmlns:a="http://schemas.openxmlformats.org/drawingml/2006/main">
            <a:off x="609600" y="5086350"/>
            <a:ext cx="3905250" cy="723900"/>
          </a:xfrm>
          <a:prstGeom xmlns:a="http://schemas.openxmlformats.org/drawingml/2006/main" prst="rect">
            <a:avLst/>
          </a:prstGeom>
          <a:solidFill xmlns:a="http://schemas.openxmlformats.org/drawingml/2006/main">
            <a:srgbClr val="EEF7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C9D0257-D5CD-46A9-9C25-5ADB1577B85E}"/>
              </a:ext>
            </a:extLst>
          </p:cNvPr>
          <p:cNvSpPr>
            <a:spLocks xmlns:a="http://schemas.openxmlformats.org/drawingml/2006/main" noGrp="1"/>
          </p:cNvSpPr>
          <p:nvPr/>
        </p:nvSpPr>
        <p:spPr>
          <a:xfrm xmlns:a="http://schemas.openxmlformats.org/drawingml/2006/main">
            <a:off x="800100" y="5238750"/>
            <a:ext cx="3524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00000"/>
                </a:solidFill>
              </a:defRPr>
            </a:pPr>
            <a:r>
              <a:rPr sz="1350" b="1">
                <a:solidFill>
                  <a:srgbClr val="000000"/>
                </a:solidFill>
              </a:rPr>
              <a:t>Safety guard: NODE_ENV=test and database name must end in _test.</a:t>
            </a:r>
          </a:p>
        </p:txBody>
      </p:sp>
      <p:sp>
        <p:nvSpPr>
          <p:cNvPr id="11" name="">
            <a:extLst xmlns:a="http://schemas.openxmlformats.org/drawingml/2006/main">
              <a:ext uri="{FF2B5EF4-FFF2-40B4-BE49-F238E27FC236}">
                <a16:creationId xmlns:a16="http://schemas.microsoft.com/office/drawing/2014/main" id="{496276FD-4F40-4235-A445-8A39C5D502E8}"/>
              </a:ext>
            </a:extLst>
          </p:cNvPr>
          <p:cNvSpPr>
            <a:spLocks xmlns:a="http://schemas.openxmlformats.org/drawingml/2006/main" noGrp="1"/>
          </p:cNvSpPr>
          <p:nvPr/>
        </p:nvSpPr>
        <p:spPr>
          <a:xfrm xmlns:a="http://schemas.openxmlformats.org/drawingml/2006/main">
            <a:off x="4953000" y="1581150"/>
            <a:ext cx="6629400" cy="4305300"/>
          </a:xfrm>
          <a:prstGeom xmlns:a="http://schemas.openxmlformats.org/drawingml/2006/main" prst="rect">
            <a:avLst/>
          </a:prstGeom>
          <a:solidFill xmlns:a="http://schemas.openxmlformats.org/drawingml/2006/main">
            <a:srgbClr val="111827"/>
          </a:solidFill>
          <a:ln xmlns:a="http://schemas.openxmlformats.org/drawingml/2006/main" w="9525">
            <a:solidFill>
              <a:srgbClr val="111827"/>
            </a:solidFill>
            <a:prstDash val="solid"/>
          </a:ln>
        </p:spPr>
      </p:sp>
      <p:sp>
        <p:nvSpPr>
          <p:cNvPr id="12" name="">
            <a:extLst xmlns:a="http://schemas.openxmlformats.org/drawingml/2006/main">
              <a:ext uri="{FF2B5EF4-FFF2-40B4-BE49-F238E27FC236}">
                <a16:creationId xmlns:a16="http://schemas.microsoft.com/office/drawing/2014/main" id="{6F999338-5ADD-43C1-AAE4-471D8F725DB1}"/>
              </a:ext>
            </a:extLst>
          </p:cNvPr>
          <p:cNvSpPr>
            <a:spLocks xmlns:a="http://schemas.openxmlformats.org/drawingml/2006/main" noGrp="1"/>
          </p:cNvSpPr>
          <p:nvPr/>
        </p:nvSpPr>
        <p:spPr>
          <a:xfrm xmlns:a="http://schemas.openxmlformats.org/drawingml/2006/main">
            <a:off x="5219700" y="1828800"/>
            <a:ext cx="6096000" cy="3848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FFFFFF"/>
                </a:solidFill>
              </a:defRPr>
            </a:pPr>
            <a:r>
              <a:rPr sz="1350" b="0">
                <a:solidFill>
                  <a:srgbClr val="FFFFFF"/>
                </a:solidFill>
              </a:rPr>
              <a:t>corepack enable</a:t>
            </a:r>
          </a:p>
          <a:p xmlns:a="http://schemas.openxmlformats.org/drawingml/2006/main">
            <a:pPr algn="l">
              <a:defRPr sz="1350" b="0">
                <a:solidFill>
                  <a:srgbClr val="FFFFFF"/>
                </a:solidFill>
              </a:defRPr>
            </a:pPr>
            <a:r>
              <a:rPr sz="1350" b="0">
                <a:solidFill>
                  <a:srgbClr val="FFFFFF"/>
                </a:solidFill>
              </a:rPr>
              <a:t>pnpm install --frozen-lockfile</a:t>
            </a:r>
          </a:p>
          <a:p xmlns:a="http://schemas.openxmlformats.org/drawingml/2006/main">
            <a:pPr algn="l">
              <a:defRPr sz="1350" b="0">
                <a:solidFill>
                  <a:srgbClr val="FFFFFF"/>
                </a:solidFill>
              </a:defRPr>
            </a:pPr>
            <a:r>
              <a:rPr sz="1350" b="0">
                <a:solidFill>
                  <a:srgbClr val="FFFFFF"/>
                </a:solidFill>
              </a:rPr>
              <a:t>docker compose up -d db</a:t>
            </a:r>
          </a:p>
          <a:p xmlns:a="http://schemas.openxmlformats.org/drawingml/2006/main">
            <a:r>
              <a:t/>
            </a:r>
          </a:p>
          <a:p xmlns:a="http://schemas.openxmlformats.org/drawingml/2006/main">
            <a:pPr algn="l">
              <a:defRPr sz="1350" b="0">
                <a:solidFill>
                  <a:srgbClr val="FFFFFF"/>
                </a:solidFill>
              </a:defRPr>
            </a:pPr>
            <a:r>
              <a:rPr sz="1350" b="0">
                <a:solidFill>
                  <a:srgbClr val="FFFFFF"/>
                </a:solidFill>
              </a:rPr>
              <a:t>$env:NODE_ENV = 'test'</a:t>
            </a:r>
          </a:p>
          <a:p xmlns:a="http://schemas.openxmlformats.org/drawingml/2006/main">
            <a:pPr algn="l">
              <a:defRPr sz="1350" b="0">
                <a:solidFill>
                  <a:srgbClr val="FFFFFF"/>
                </a:solidFill>
              </a:defRPr>
            </a:pPr>
            <a:r>
              <a:rPr sz="1350" b="0">
                <a:solidFill>
                  <a:srgbClr val="FFFFFF"/>
                </a:solidFill>
              </a:rPr>
              <a:t>$env:TEST_DATABASE_URL =</a:t>
            </a:r>
          </a:p>
          <a:p xmlns:a="http://schemas.openxmlformats.org/drawingml/2006/main">
            <a:pPr algn="l">
              <a:defRPr sz="1350" b="0">
                <a:solidFill>
                  <a:srgbClr val="FFFFFF"/>
                </a:solidFill>
              </a:defRPr>
            </a:pPr>
            <a:r>
              <a:rPr sz="1350" b="0">
                <a:solidFill>
                  <a:srgbClr val="FFFFFF"/>
                </a:solidFill>
              </a:rPr>
              <a:t>  'postgresql://scheduler:scheduler@localhost:55432/scheduler_test'</a:t>
            </a:r>
          </a:p>
          <a:p xmlns:a="http://schemas.openxmlformats.org/drawingml/2006/main">
            <a:r>
              <a:t/>
            </a:r>
          </a:p>
          <a:p xmlns:a="http://schemas.openxmlformats.org/drawingml/2006/main">
            <a:pPr algn="l">
              <a:defRPr sz="1350" b="0">
                <a:solidFill>
                  <a:srgbClr val="FFFFFF"/>
                </a:solidFill>
              </a:defRPr>
            </a:pPr>
            <a:r>
              <a:rPr sz="1350" b="0">
                <a:solidFill>
                  <a:srgbClr val="FFFFFF"/>
                </a:solidFill>
              </a:rPr>
              <a:t>pnpm test:unit</a:t>
            </a:r>
          </a:p>
          <a:p xmlns:a="http://schemas.openxmlformats.org/drawingml/2006/main">
            <a:pPr algn="l">
              <a:defRPr sz="1350" b="0">
                <a:solidFill>
                  <a:srgbClr val="FFFFFF"/>
                </a:solidFill>
              </a:defRPr>
            </a:pPr>
            <a:r>
              <a:rPr sz="1350" b="0">
                <a:solidFill>
                  <a:srgbClr val="FFFFFF"/>
                </a:solidFill>
              </a:rPr>
              <a:t>pnpm test:integration</a:t>
            </a:r>
          </a:p>
          <a:p xmlns:a="http://schemas.openxmlformats.org/drawingml/2006/main">
            <a:pPr algn="l">
              <a:defRPr sz="1350" b="0">
                <a:solidFill>
                  <a:srgbClr val="FFFFFF"/>
                </a:solidFill>
              </a:defRPr>
            </a:pPr>
            <a:r>
              <a:rPr sz="1350" b="0">
                <a:solidFill>
                  <a:srgbClr val="FFFFFF"/>
                </a:solidFill>
              </a:rPr>
              <a:t>pnpm test:e2e</a:t>
            </a:r>
          </a:p>
          <a:p xmlns:a="http://schemas.openxmlformats.org/drawingml/2006/main">
            <a:pPr algn="l">
              <a:defRPr sz="1350" b="0">
                <a:solidFill>
                  <a:srgbClr val="FFFFFF"/>
                </a:solidFill>
              </a:defRPr>
            </a:pPr>
            <a:r>
              <a:rPr sz="1350" b="0">
                <a:solidFill>
                  <a:srgbClr val="FFFFFF"/>
                </a:solidFill>
              </a:rPr>
              <a:t>pnpm test:concurrency</a:t>
            </a:r>
          </a:p>
          <a:p xmlns:a="http://schemas.openxmlformats.org/drawingml/2006/main">
            <a:pPr algn="l">
              <a:defRPr sz="1350" b="0">
                <a:solidFill>
                  <a:srgbClr val="FFFFFF"/>
                </a:solidFill>
              </a:defRPr>
            </a:pPr>
            <a:r>
              <a:rPr sz="1350" b="0">
                <a:solidFill>
                  <a:srgbClr val="FFFFFF"/>
                </a:solidFill>
              </a:rPr>
              <a:t>pnpm lint</a:t>
            </a:r>
          </a:p>
          <a:p xmlns:a="http://schemas.openxmlformats.org/drawingml/2006/main">
            <a:pPr algn="l">
              <a:defRPr sz="1350" b="0">
                <a:solidFill>
                  <a:srgbClr val="FFFFFF"/>
                </a:solidFill>
              </a:defRPr>
            </a:pPr>
            <a:r>
              <a:rPr sz="1350" b="0">
                <a:solidFill>
                  <a:srgbClr val="FFFFFF"/>
                </a:solidFill>
              </a:rPr>
              <a:t>pnpm typecheck</a:t>
            </a:r>
          </a:p>
          <a:p xmlns:a="http://schemas.openxmlformats.org/drawingml/2006/main">
            <a:pPr algn="l">
              <a:defRPr sz="1350" b="0">
                <a:solidFill>
                  <a:srgbClr val="FFFFFF"/>
                </a:solidFill>
              </a:defRPr>
            </a:pPr>
            <a:r>
              <a:rPr sz="1350" b="0">
                <a:solidFill>
                  <a:srgbClr val="FFFFFF"/>
                </a:solidFill>
              </a:rPr>
              <a:t>pnpm build</a:t>
            </a:r>
          </a:p>
        </p:txBody>
      </p:sp>
    </p:spTree>
    <p:extLst>
      <p:ext uri="{BB962C8B-B14F-4D97-AF65-F5344CB8AC3E}">
        <p14:creationId xmlns:p14="http://schemas.microsoft.com/office/powerpoint/2010/main" val="109932943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889EA58-D13C-4AC4-BB12-09232BC31C98}"/>
              </a:ext>
            </a:extLst>
          </p:cNvPr>
          <p:cNvSpPr>
            <a:spLocks xmlns:a="http://schemas.openxmlformats.org/drawingml/2006/main" noGrp="1"/>
          </p:cNvSpPr>
          <p:nvPr/>
        </p:nvSpPr>
        <p:spPr>
          <a:xfrm xmlns:a="http://schemas.openxmlformats.org/drawingml/2006/main">
            <a:off x="609600" y="4381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defRPr>
            </a:pPr>
            <a:r>
              <a:rPr sz="1125" b="1">
                <a:solidFill>
                  <a:srgbClr val="3D8DFF"/>
                </a:solidFill>
              </a:rPr>
              <a:t>THE DESIGN PRINCIPLE</a:t>
            </a:r>
          </a:p>
        </p:txBody>
      </p:sp>
      <p:sp>
        <p:nvSpPr>
          <p:cNvPr id="2" name="">
            <a:extLst xmlns:a="http://schemas.openxmlformats.org/drawingml/2006/main">
              <a:ext uri="{FF2B5EF4-FFF2-40B4-BE49-F238E27FC236}">
                <a16:creationId xmlns:a16="http://schemas.microsoft.com/office/drawing/2014/main" id="{2472355B-5070-42EF-95C6-1F481B99EAB3}"/>
              </a:ext>
            </a:extLst>
          </p:cNvPr>
          <p:cNvSpPr>
            <a:spLocks xmlns:a="http://schemas.openxmlformats.org/drawingml/2006/main" noGrp="1"/>
          </p:cNvSpPr>
          <p:nvPr/>
        </p:nvSpPr>
        <p:spPr>
          <a:xfrm xmlns:a="http://schemas.openxmlformats.org/drawingml/2006/main">
            <a:off x="609600" y="1085850"/>
            <a:ext cx="102870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050" b="1">
                <a:solidFill>
                  <a:srgbClr val="000000"/>
                </a:solidFill>
              </a:defRPr>
            </a:pPr>
            <a:r>
              <a:rPr sz="4050" b="1">
                <a:solidFill>
                  <a:srgbClr val="000000"/>
                </a:solidFill>
              </a:rPr>
              <a:t>Correctness first; complexity only when evidence demands it</a:t>
            </a:r>
          </a:p>
        </p:txBody>
      </p:sp>
      <p:sp>
        <p:nvSpPr>
          <p:cNvPr id="3" name="">
            <a:extLst xmlns:a="http://schemas.openxmlformats.org/drawingml/2006/main">
              <a:ext uri="{FF2B5EF4-FFF2-40B4-BE49-F238E27FC236}">
                <a16:creationId xmlns:a16="http://schemas.microsoft.com/office/drawing/2014/main" id="{08776289-D0AC-4B80-A4C0-ED0A928E0CEC}"/>
              </a:ext>
            </a:extLst>
          </p:cNvPr>
          <p:cNvSpPr>
            <a:spLocks xmlns:a="http://schemas.openxmlformats.org/drawingml/2006/main" noGrp="1"/>
          </p:cNvSpPr>
          <p:nvPr/>
        </p:nvSpPr>
        <p:spPr>
          <a:xfrm xmlns:a="http://schemas.openxmlformats.org/drawingml/2006/main">
            <a:off x="609600" y="257175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7416C1BF-F82A-444D-B250-FAAE352E79FE}"/>
              </a:ext>
            </a:extLst>
          </p:cNvPr>
          <p:cNvSpPr>
            <a:spLocks xmlns:a="http://schemas.openxmlformats.org/drawingml/2006/main" noGrp="1"/>
          </p:cNvSpPr>
          <p:nvPr/>
        </p:nvSpPr>
        <p:spPr>
          <a:xfrm xmlns:a="http://schemas.openxmlformats.org/drawingml/2006/main">
            <a:off x="609600" y="2990850"/>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defRPr>
            </a:pPr>
            <a:r>
              <a:rPr sz="1800" b="1">
                <a:solidFill>
                  <a:srgbClr val="3D8DFF"/>
                </a:solidFill>
              </a:rPr>
              <a:t>01</a:t>
            </a:r>
          </a:p>
        </p:txBody>
      </p:sp>
      <p:sp>
        <p:nvSpPr>
          <p:cNvPr id="5" name="">
            <a:extLst xmlns:a="http://schemas.openxmlformats.org/drawingml/2006/main">
              <a:ext uri="{FF2B5EF4-FFF2-40B4-BE49-F238E27FC236}">
                <a16:creationId xmlns:a16="http://schemas.microsoft.com/office/drawing/2014/main" id="{DD04A2FB-1BBE-4BE0-8018-3F33A29C00CC}"/>
              </a:ext>
            </a:extLst>
          </p:cNvPr>
          <p:cNvSpPr>
            <a:spLocks xmlns:a="http://schemas.openxmlformats.org/drawingml/2006/main" noGrp="1"/>
          </p:cNvSpPr>
          <p:nvPr/>
        </p:nvSpPr>
        <p:spPr>
          <a:xfrm xmlns:a="http://schemas.openxmlformats.org/drawingml/2006/main">
            <a:off x="1352550" y="2990850"/>
            <a:ext cx="933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00000"/>
                </a:solidFill>
              </a:defRPr>
            </a:pPr>
            <a:r>
              <a:rPr sz="1875" b="1">
                <a:solidFill>
                  <a:srgbClr val="000000"/>
                </a:solidFill>
              </a:rPr>
              <a:t>Prevent double-booking at the database boundary.</a:t>
            </a:r>
          </a:p>
        </p:txBody>
      </p:sp>
      <p:sp>
        <p:nvSpPr>
          <p:cNvPr id="6" name="">
            <a:extLst xmlns:a="http://schemas.openxmlformats.org/drawingml/2006/main">
              <a:ext uri="{FF2B5EF4-FFF2-40B4-BE49-F238E27FC236}">
                <a16:creationId xmlns:a16="http://schemas.microsoft.com/office/drawing/2014/main" id="{8CDF97FF-8820-4B9F-A19D-74DF90B5A8A2}"/>
              </a:ext>
            </a:extLst>
          </p:cNvPr>
          <p:cNvSpPr>
            <a:spLocks xmlns:a="http://schemas.openxmlformats.org/drawingml/2006/main" noGrp="1"/>
          </p:cNvSpPr>
          <p:nvPr/>
        </p:nvSpPr>
        <p:spPr>
          <a:xfrm xmlns:a="http://schemas.openxmlformats.org/drawingml/2006/main">
            <a:off x="609600" y="3714750"/>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defRPr>
            </a:pPr>
            <a:r>
              <a:rPr sz="1800" b="1">
                <a:solidFill>
                  <a:srgbClr val="3D8DFF"/>
                </a:solidFill>
              </a:rPr>
              <a:t>02</a:t>
            </a:r>
          </a:p>
        </p:txBody>
      </p:sp>
      <p:sp>
        <p:nvSpPr>
          <p:cNvPr id="7" name="">
            <a:extLst xmlns:a="http://schemas.openxmlformats.org/drawingml/2006/main">
              <a:ext uri="{FF2B5EF4-FFF2-40B4-BE49-F238E27FC236}">
                <a16:creationId xmlns:a16="http://schemas.microsoft.com/office/drawing/2014/main" id="{5DE1F8B8-0199-4040-A075-372A4E8521C9}"/>
              </a:ext>
            </a:extLst>
          </p:cNvPr>
          <p:cNvSpPr>
            <a:spLocks xmlns:a="http://schemas.openxmlformats.org/drawingml/2006/main" noGrp="1"/>
          </p:cNvSpPr>
          <p:nvPr/>
        </p:nvSpPr>
        <p:spPr>
          <a:xfrm xmlns:a="http://schemas.openxmlformats.org/drawingml/2006/main">
            <a:off x="1352550" y="3714750"/>
            <a:ext cx="933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00000"/>
                </a:solidFill>
              </a:defRPr>
            </a:pPr>
            <a:r>
              <a:rPr sz="1875" b="1">
                <a:solidFill>
                  <a:srgbClr val="000000"/>
                </a:solidFill>
              </a:rPr>
              <a:t>Scale stateless API instances without weakening the invariant.</a:t>
            </a:r>
          </a:p>
        </p:txBody>
      </p:sp>
      <p:sp>
        <p:nvSpPr>
          <p:cNvPr id="8" name="">
            <a:extLst xmlns:a="http://schemas.openxmlformats.org/drawingml/2006/main">
              <a:ext uri="{FF2B5EF4-FFF2-40B4-BE49-F238E27FC236}">
                <a16:creationId xmlns:a16="http://schemas.microsoft.com/office/drawing/2014/main" id="{08CE4547-4426-429D-BA0A-EE5C1F7A0EC1}"/>
              </a:ext>
            </a:extLst>
          </p:cNvPr>
          <p:cNvSpPr>
            <a:spLocks xmlns:a="http://schemas.openxmlformats.org/drawingml/2006/main" noGrp="1"/>
          </p:cNvSpPr>
          <p:nvPr/>
        </p:nvSpPr>
        <p:spPr>
          <a:xfrm xmlns:a="http://schemas.openxmlformats.org/drawingml/2006/main">
            <a:off x="609600" y="4438650"/>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defRPr>
            </a:pPr>
            <a:r>
              <a:rPr sz="1800" b="1">
                <a:solidFill>
                  <a:srgbClr val="3D8DFF"/>
                </a:solidFill>
              </a:rPr>
              <a:t>03</a:t>
            </a:r>
          </a:p>
        </p:txBody>
      </p:sp>
      <p:sp>
        <p:nvSpPr>
          <p:cNvPr id="9" name="">
            <a:extLst xmlns:a="http://schemas.openxmlformats.org/drawingml/2006/main">
              <a:ext uri="{FF2B5EF4-FFF2-40B4-BE49-F238E27FC236}">
                <a16:creationId xmlns:a16="http://schemas.microsoft.com/office/drawing/2014/main" id="{91864AA6-B64F-4D0E-ABF0-E9C8784D390E}"/>
              </a:ext>
            </a:extLst>
          </p:cNvPr>
          <p:cNvSpPr>
            <a:spLocks xmlns:a="http://schemas.openxmlformats.org/drawingml/2006/main" noGrp="1"/>
          </p:cNvSpPr>
          <p:nvPr/>
        </p:nvSpPr>
        <p:spPr>
          <a:xfrm xmlns:a="http://schemas.openxmlformats.org/drawingml/2006/main">
            <a:off x="1352550" y="4438650"/>
            <a:ext cx="933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00000"/>
                </a:solidFill>
              </a:defRPr>
            </a:pPr>
            <a:r>
              <a:rPr sz="1875" b="1">
                <a:solidFill>
                  <a:srgbClr val="000000"/>
                </a:solidFill>
              </a:rPr>
              <a:t>Use AI to accelerate options; use tests and reviews to accept them.</a:t>
            </a:r>
          </a:p>
        </p:txBody>
      </p:sp>
      <p:sp>
        <p:nvSpPr>
          <p:cNvPr id="10" name="">
            <a:extLst xmlns:a="http://schemas.openxmlformats.org/drawingml/2006/main">
              <a:ext uri="{FF2B5EF4-FFF2-40B4-BE49-F238E27FC236}">
                <a16:creationId xmlns:a16="http://schemas.microsoft.com/office/drawing/2014/main" id="{FCF0E3ED-098D-4C7F-B77A-3B39A7A12E00}"/>
              </a:ext>
            </a:extLst>
          </p:cNvPr>
          <p:cNvSpPr>
            <a:spLocks xmlns:a="http://schemas.openxmlformats.org/drawingml/2006/main" noGrp="1"/>
          </p:cNvSpPr>
          <p:nvPr/>
        </p:nvSpPr>
        <p:spPr>
          <a:xfrm xmlns:a="http://schemas.openxmlformats.org/drawingml/2006/main">
            <a:off x="609600" y="5476875"/>
            <a:ext cx="10972800" cy="7810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2CE7198-A82F-4358-9DEA-2897CE35A2E3}"/>
              </a:ext>
            </a:extLst>
          </p:cNvPr>
          <p:cNvSpPr>
            <a:spLocks xmlns:a="http://schemas.openxmlformats.org/drawingml/2006/main" noGrp="1"/>
          </p:cNvSpPr>
          <p:nvPr/>
        </p:nvSpPr>
        <p:spPr>
          <a:xfrm xmlns:a="http://schemas.openxmlformats.org/drawingml/2006/main">
            <a:off x="895350" y="5695950"/>
            <a:ext cx="1040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FFFFFF"/>
                </a:solidFill>
              </a:defRPr>
            </a:pPr>
            <a:r>
              <a:rPr sz="1875" b="1">
                <a:solidFill>
                  <a:srgbClr val="FFFFFF"/>
                </a:solidFill>
              </a:rPr>
              <a:t>Live demo: availability → book → replay key → cancel → rebook</a:t>
            </a:r>
          </a:p>
        </p:txBody>
      </p:sp>
    </p:spTree>
    <p:extLst>
      <p:ext uri="{BB962C8B-B14F-4D97-AF65-F5344CB8AC3E}">
        <p14:creationId xmlns:p14="http://schemas.microsoft.com/office/powerpoint/2010/main" val="14464457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2026-08-31T12:55:07.2460000Z</dcterms:created>
  <dcterms:modified xsi:type="dcterms:W3CDTF">2026-08-31T12:55:07.2470000Z</dcterms:modified>
</coreProperties>
</file>